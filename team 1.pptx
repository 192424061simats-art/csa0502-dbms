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Lst>
  <p:sldSz cx="18288000" cy="10287000"/>
  <p:notesSz cx="6858000" cy="9144000"/>
  <p:embeddedFontLst>
    <p:embeddedFont>
      <p:font typeface="Calibri" panose="020F0502020204030204" pitchFamily="34" charset="0"/>
      <p:regular r:id="rId20"/>
      <p:bold r:id="rId21"/>
      <p:italic r:id="rId22"/>
      <p:boldItalic r:id="rId23"/>
    </p:embeddedFont>
    <p:embeddedFont>
      <p:font typeface="Times New Roman Bold" panose="02020803070505020304" pitchFamily="18" charset="0"/>
      <p:regular r:id="rId24"/>
      <p:bold r:id="rId25"/>
    </p:embeddedFont>
    <p:embeddedFont>
      <p:font typeface="Times New Roman Bold Italics" panose="020B0604020202020204" charset="0"/>
      <p:regular r:id="rId26"/>
    </p:embeddedFont>
    <p:embeddedFont>
      <p:font typeface="Times New Roman MT" panose="020B0604020202020204" charset="0"/>
      <p:regular r:id="rId27"/>
    </p:embeddedFont>
    <p:embeddedFont>
      <p:font typeface="Times New Roman" panose="02020603050405020304" pitchFamily="18" charset="0"/>
      <p:regular r:id="rId28"/>
    </p:embeddedFont>
    <p:embeddedFont>
      <p:font typeface="Times New Roman MT Bold" panose="020B0604020202020204" charset="0"/>
      <p:regular r:id="rId29"/>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42" d="100"/>
          <a:sy n="42" d="100"/>
        </p:scale>
        <p:origin x="780" y="64"/>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7.fntdata"/><Relationship Id="rId3" Type="http://schemas.openxmlformats.org/officeDocument/2006/relationships/slide" Target="slides/slide2.xml"/><Relationship Id="rId21" Type="http://schemas.openxmlformats.org/officeDocument/2006/relationships/font" Target="fonts/font2.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6.fntdata"/><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1.fntdata"/><Relationship Id="rId29" Type="http://schemas.openxmlformats.org/officeDocument/2006/relationships/font" Target="fonts/font10.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5.fntdata"/><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4.fntdata"/><Relationship Id="rId28"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3.fntdata"/><Relationship Id="rId27" Type="http://schemas.openxmlformats.org/officeDocument/2006/relationships/font" Target="fonts/font8.fntdata"/><Relationship Id="rId30" Type="http://schemas.openxmlformats.org/officeDocument/2006/relationships/presProps" Target="presProps.xml"/><Relationship Id="rId8" Type="http://schemas.openxmlformats.org/officeDocument/2006/relationships/slide" Target="slides/slide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9/4/2026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9/4/2026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9/4/2026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9/4/2026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9/4/2026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9/4/2026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2001837" y="632420"/>
            <a:ext cx="14827315" cy="1336725"/>
          </a:xfrm>
          <a:prstGeom prst="rect">
            <a:avLst/>
          </a:prstGeom>
        </p:spPr>
        <p:txBody>
          <a:bodyPr lIns="0" tIns="0" rIns="0" bIns="0" rtlCol="0" anchor="t">
            <a:spAutoFit/>
          </a:bodyPr>
          <a:lstStyle/>
          <a:p>
            <a:pPr algn="ctr">
              <a:lnSpc>
                <a:spcPts val="6295"/>
              </a:lnSpc>
            </a:pPr>
            <a:r>
              <a:rPr lang="en-US" sz="5721">
                <a:solidFill>
                  <a:srgbClr val="35455D"/>
                </a:solidFill>
                <a:latin typeface="Times New Roman MT"/>
                <a:ea typeface="Times New Roman MT"/>
                <a:cs typeface="Times New Roman MT"/>
                <a:sym typeface="Times New Roman MT"/>
              </a:rPr>
              <a:t>SIMATS ENGINEERING</a:t>
            </a:r>
          </a:p>
          <a:p>
            <a:pPr algn="ctr">
              <a:lnSpc>
                <a:spcPts val="2899"/>
              </a:lnSpc>
            </a:pPr>
            <a:r>
              <a:rPr lang="en-US" sz="2637" b="1">
                <a:solidFill>
                  <a:srgbClr val="35455D"/>
                </a:solidFill>
                <a:latin typeface="Times New Roman Bold"/>
                <a:ea typeface="Times New Roman Bold"/>
                <a:cs typeface="Times New Roman Bold"/>
                <a:sym typeface="Times New Roman Bold"/>
              </a:rPr>
              <a:t>SAVEETHA INSTITUTE OF MEDICAL AND TECHNICAL SCIENCES CHENNAI-602105</a:t>
            </a:r>
          </a:p>
        </p:txBody>
      </p:sp>
      <p:sp>
        <p:nvSpPr>
          <p:cNvPr id="3" name="Freeform 3"/>
          <p:cNvSpPr/>
          <p:nvPr/>
        </p:nvSpPr>
        <p:spPr>
          <a:xfrm rot="-5400000">
            <a:off x="640074" y="607382"/>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4" name="Freeform 4"/>
          <p:cNvSpPr/>
          <p:nvPr/>
        </p:nvSpPr>
        <p:spPr>
          <a:xfrm rot="-5400000">
            <a:off x="16189925" y="30702"/>
            <a:ext cx="1516358" cy="2042837"/>
          </a:xfrm>
          <a:custGeom>
            <a:avLst/>
            <a:gdLst/>
            <a:ahLst/>
            <a:cxnLst/>
            <a:rect l="l" t="t" r="r" b="b"/>
            <a:pathLst>
              <a:path w="1516358" h="2042837">
                <a:moveTo>
                  <a:pt x="0" y="0"/>
                </a:moveTo>
                <a:lnTo>
                  <a:pt x="1516359" y="0"/>
                </a:lnTo>
                <a:lnTo>
                  <a:pt x="1516359" y="2042837"/>
                </a:lnTo>
                <a:lnTo>
                  <a:pt x="0" y="2042837"/>
                </a:lnTo>
                <a:lnTo>
                  <a:pt x="0" y="0"/>
                </a:lnTo>
                <a:close/>
              </a:path>
            </a:pathLst>
          </a:custGeom>
          <a:blipFill>
            <a:blip r:embed="rId2"/>
            <a:stretch>
              <a:fillRect t="-289216" b="-189183"/>
            </a:stretch>
          </a:blipFill>
        </p:spPr>
      </p:sp>
      <p:sp>
        <p:nvSpPr>
          <p:cNvPr id="5" name="TextBox 5"/>
          <p:cNvSpPr txBox="1"/>
          <p:nvPr/>
        </p:nvSpPr>
        <p:spPr>
          <a:xfrm>
            <a:off x="1930901" y="3924300"/>
            <a:ext cx="15328399" cy="2025152"/>
          </a:xfrm>
          <a:prstGeom prst="rect">
            <a:avLst/>
          </a:prstGeom>
        </p:spPr>
        <p:txBody>
          <a:bodyPr lIns="0" tIns="0" rIns="0" bIns="0" rtlCol="0" anchor="t">
            <a:spAutoFit/>
          </a:bodyPr>
          <a:lstStyle/>
          <a:p>
            <a:pPr algn="ctr">
              <a:lnSpc>
                <a:spcPts val="5328"/>
              </a:lnSpc>
            </a:pPr>
            <a:r>
              <a:rPr lang="en-US" sz="4673" b="1" dirty="0">
                <a:solidFill>
                  <a:srgbClr val="2B2B2B"/>
                </a:solidFill>
                <a:latin typeface="Times New Roman Bold"/>
                <a:ea typeface="Times New Roman Bold"/>
                <a:cs typeface="Times New Roman Bold"/>
                <a:sym typeface="Times New Roman Bold"/>
              </a:rPr>
              <a:t>Design of a Hospital Patient Record Management System Using Relational DBMS</a:t>
            </a:r>
          </a:p>
          <a:p>
            <a:pPr algn="ctr">
              <a:lnSpc>
                <a:spcPts val="6996"/>
              </a:lnSpc>
            </a:pPr>
            <a:r>
              <a:rPr lang="en-US" sz="2798" b="1" spc="198" dirty="0">
                <a:solidFill>
                  <a:srgbClr val="2B2B2B"/>
                </a:solidFill>
                <a:latin typeface="Times New Roman MT Bold"/>
                <a:ea typeface="Times New Roman MT Bold"/>
                <a:cs typeface="Times New Roman MT Bold"/>
                <a:sym typeface="Times New Roman MT Bold"/>
              </a:rPr>
              <a:t>CSA0502 - Database Management System</a:t>
            </a:r>
          </a:p>
        </p:txBody>
      </p:sp>
      <p:sp>
        <p:nvSpPr>
          <p:cNvPr id="6" name="TextBox 6"/>
          <p:cNvSpPr txBox="1"/>
          <p:nvPr/>
        </p:nvSpPr>
        <p:spPr>
          <a:xfrm>
            <a:off x="1401917" y="7639685"/>
            <a:ext cx="6084589" cy="1641475"/>
          </a:xfrm>
          <a:prstGeom prst="rect">
            <a:avLst/>
          </a:prstGeom>
        </p:spPr>
        <p:txBody>
          <a:bodyPr lIns="0" tIns="0" rIns="0" bIns="0" rtlCol="0" anchor="t">
            <a:spAutoFit/>
          </a:bodyPr>
          <a:lstStyle/>
          <a:p>
            <a:pPr algn="l">
              <a:lnSpc>
                <a:spcPts val="3200"/>
              </a:lnSpc>
            </a:pPr>
            <a:r>
              <a:rPr lang="en-US" sz="2520" dirty="0">
                <a:solidFill>
                  <a:srgbClr val="000000"/>
                </a:solidFill>
                <a:latin typeface="Times New Roman MT"/>
                <a:ea typeface="Times New Roman MT"/>
                <a:cs typeface="Times New Roman MT"/>
                <a:sym typeface="Times New Roman MT"/>
              </a:rPr>
              <a:t>presented by</a:t>
            </a:r>
          </a:p>
          <a:p>
            <a:pPr algn="l">
              <a:lnSpc>
                <a:spcPts val="3200"/>
              </a:lnSpc>
            </a:pPr>
            <a:r>
              <a:rPr lang="en-US" sz="2520" dirty="0" err="1">
                <a:solidFill>
                  <a:srgbClr val="000000"/>
                </a:solidFill>
                <a:latin typeface="Times New Roman MT"/>
                <a:ea typeface="Times New Roman MT"/>
                <a:cs typeface="Times New Roman MT"/>
                <a:sym typeface="Times New Roman MT"/>
              </a:rPr>
              <a:t>Christilla</a:t>
            </a:r>
            <a:r>
              <a:rPr lang="en-US" sz="2520" dirty="0">
                <a:solidFill>
                  <a:srgbClr val="000000"/>
                </a:solidFill>
                <a:latin typeface="Times New Roman MT"/>
                <a:ea typeface="Times New Roman MT"/>
                <a:cs typeface="Times New Roman MT"/>
                <a:sym typeface="Times New Roman MT"/>
              </a:rPr>
              <a:t> </a:t>
            </a:r>
            <a:r>
              <a:rPr lang="en-US" sz="2520" dirty="0" err="1">
                <a:solidFill>
                  <a:srgbClr val="000000"/>
                </a:solidFill>
                <a:latin typeface="Times New Roman MT"/>
                <a:ea typeface="Times New Roman MT"/>
                <a:cs typeface="Times New Roman MT"/>
                <a:sym typeface="Times New Roman MT"/>
              </a:rPr>
              <a:t>Sweety</a:t>
            </a:r>
            <a:r>
              <a:rPr lang="en-US" sz="2520" dirty="0">
                <a:solidFill>
                  <a:srgbClr val="000000"/>
                </a:solidFill>
                <a:latin typeface="Times New Roman MT"/>
                <a:ea typeface="Times New Roman MT"/>
                <a:cs typeface="Times New Roman MT"/>
                <a:sym typeface="Times New Roman MT"/>
              </a:rPr>
              <a:t> J S (192421141)</a:t>
            </a:r>
          </a:p>
          <a:p>
            <a:pPr algn="l">
              <a:lnSpc>
                <a:spcPts val="3201"/>
              </a:lnSpc>
            </a:pPr>
            <a:r>
              <a:rPr lang="en-US" sz="2520" dirty="0" smtClean="0">
                <a:solidFill>
                  <a:srgbClr val="000000"/>
                </a:solidFill>
                <a:latin typeface="Times New Roman MT"/>
                <a:ea typeface="Times New Roman MT"/>
                <a:cs typeface="Times New Roman MT"/>
                <a:sym typeface="Times New Roman MT"/>
              </a:rPr>
              <a:t>Sandhya </a:t>
            </a:r>
            <a:r>
              <a:rPr lang="en-US" sz="2520" dirty="0">
                <a:solidFill>
                  <a:srgbClr val="000000"/>
                </a:solidFill>
                <a:latin typeface="Times New Roman MT"/>
                <a:ea typeface="Times New Roman MT"/>
                <a:cs typeface="Times New Roman MT"/>
                <a:sym typeface="Times New Roman MT"/>
              </a:rPr>
              <a:t>K (192424061)</a:t>
            </a:r>
          </a:p>
          <a:p>
            <a:pPr algn="l">
              <a:lnSpc>
                <a:spcPts val="3201"/>
              </a:lnSpc>
            </a:pPr>
            <a:endParaRPr lang="en-US" sz="2520" dirty="0">
              <a:solidFill>
                <a:srgbClr val="000000"/>
              </a:solidFill>
              <a:latin typeface="Times New Roman MT"/>
              <a:ea typeface="Times New Roman MT"/>
              <a:cs typeface="Times New Roman MT"/>
              <a:sym typeface="Times New Roman MT"/>
            </a:endParaRPr>
          </a:p>
        </p:txBody>
      </p:sp>
      <p:sp>
        <p:nvSpPr>
          <p:cNvPr id="7" name="TextBox 7"/>
          <p:cNvSpPr txBox="1"/>
          <p:nvPr/>
        </p:nvSpPr>
        <p:spPr>
          <a:xfrm>
            <a:off x="14173200" y="6929278"/>
            <a:ext cx="3291650" cy="2268347"/>
          </a:xfrm>
          <a:prstGeom prst="rect">
            <a:avLst/>
          </a:prstGeom>
        </p:spPr>
        <p:txBody>
          <a:bodyPr lIns="0" tIns="0" rIns="0" bIns="0" rtlCol="0" anchor="t">
            <a:spAutoFit/>
          </a:bodyPr>
          <a:lstStyle/>
          <a:p>
            <a:pPr algn="l">
              <a:lnSpc>
                <a:spcPts val="3598"/>
              </a:lnSpc>
            </a:pPr>
            <a:endParaRPr dirty="0"/>
          </a:p>
          <a:p>
            <a:pPr algn="l">
              <a:lnSpc>
                <a:spcPts val="3598"/>
              </a:lnSpc>
            </a:pPr>
            <a:r>
              <a:rPr lang="en-US" sz="2570" dirty="0">
                <a:solidFill>
                  <a:srgbClr val="000000"/>
                </a:solidFill>
                <a:latin typeface="Times New Roman MT"/>
                <a:ea typeface="Times New Roman MT"/>
                <a:cs typeface="Times New Roman MT"/>
                <a:sym typeface="Times New Roman MT"/>
              </a:rPr>
              <a:t>Supervisors</a:t>
            </a:r>
          </a:p>
          <a:p>
            <a:pPr algn="l">
              <a:lnSpc>
                <a:spcPts val="3598"/>
              </a:lnSpc>
            </a:pPr>
            <a:r>
              <a:rPr lang="en-US" sz="2570" dirty="0">
                <a:solidFill>
                  <a:srgbClr val="000000"/>
                </a:solidFill>
                <a:latin typeface="Times New Roman MT"/>
                <a:ea typeface="Times New Roman MT"/>
                <a:cs typeface="Times New Roman MT"/>
                <a:sym typeface="Times New Roman MT"/>
              </a:rPr>
              <a:t> </a:t>
            </a:r>
            <a:r>
              <a:rPr lang="en-US" sz="2570" dirty="0" err="1">
                <a:solidFill>
                  <a:srgbClr val="000000"/>
                </a:solidFill>
                <a:latin typeface="Times New Roman MT"/>
                <a:ea typeface="Times New Roman MT"/>
                <a:cs typeface="Times New Roman MT"/>
                <a:sym typeface="Times New Roman MT"/>
              </a:rPr>
              <a:t>Dr.G.Ayyappan</a:t>
            </a:r>
            <a:r>
              <a:rPr lang="en-US" sz="2570" dirty="0">
                <a:solidFill>
                  <a:srgbClr val="000000"/>
                </a:solidFill>
                <a:latin typeface="Times New Roman MT"/>
                <a:ea typeface="Times New Roman MT"/>
                <a:cs typeface="Times New Roman MT"/>
                <a:sym typeface="Times New Roman MT"/>
              </a:rPr>
              <a:t>        Professor,  </a:t>
            </a:r>
          </a:p>
          <a:p>
            <a:pPr algn="l">
              <a:lnSpc>
                <a:spcPts val="3598"/>
              </a:lnSpc>
            </a:pPr>
            <a:r>
              <a:rPr lang="en-US" sz="2570" dirty="0">
                <a:solidFill>
                  <a:srgbClr val="000000"/>
                </a:solidFill>
                <a:latin typeface="Times New Roman MT"/>
                <a:ea typeface="Times New Roman MT"/>
                <a:cs typeface="Times New Roman MT"/>
                <a:sym typeface="Times New Roman MT"/>
              </a:rPr>
              <a:t>SIMATS Engineering</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7069137" y="561975"/>
            <a:ext cx="4741863" cy="1500411"/>
          </a:xfrm>
          <a:prstGeom prst="rect">
            <a:avLst/>
          </a:prstGeom>
        </p:spPr>
        <p:txBody>
          <a:bodyPr wrap="square" lIns="0" tIns="0" rIns="0" bIns="0" rtlCol="0" anchor="t">
            <a:spAutoFit/>
          </a:bodyPr>
          <a:lstStyle/>
          <a:p>
            <a:pPr algn="ctr">
              <a:lnSpc>
                <a:spcPts val="11700"/>
              </a:lnSpc>
              <a:spcBef>
                <a:spcPct val="0"/>
              </a:spcBef>
            </a:pPr>
            <a:r>
              <a:rPr lang="en-US" sz="6000" b="1" dirty="0">
                <a:solidFill>
                  <a:srgbClr val="2B2B2B"/>
                </a:solidFill>
                <a:latin typeface="Times New Roman Bold"/>
                <a:ea typeface="Times New Roman Bold"/>
                <a:cs typeface="Times New Roman Bold"/>
                <a:sym typeface="Times New Roman Bold"/>
              </a:rPr>
              <a:t>ABSTRACT</a:t>
            </a:r>
          </a:p>
        </p:txBody>
      </p:sp>
      <p:sp>
        <p:nvSpPr>
          <p:cNvPr id="3" name="TextBox 3"/>
          <p:cNvSpPr txBox="1"/>
          <p:nvPr/>
        </p:nvSpPr>
        <p:spPr>
          <a:xfrm>
            <a:off x="3076258" y="2639584"/>
            <a:ext cx="12962522" cy="5363438"/>
          </a:xfrm>
          <a:prstGeom prst="rect">
            <a:avLst/>
          </a:prstGeom>
        </p:spPr>
        <p:txBody>
          <a:bodyPr lIns="0" tIns="0" rIns="0" bIns="0" rtlCol="0" anchor="t">
            <a:spAutoFit/>
          </a:bodyPr>
          <a:lstStyle/>
          <a:p>
            <a:pPr algn="just">
              <a:lnSpc>
                <a:spcPts val="5329"/>
              </a:lnSpc>
            </a:pPr>
            <a:r>
              <a:rPr lang="en-US" sz="2944">
                <a:solidFill>
                  <a:srgbClr val="2B2B2B"/>
                </a:solidFill>
                <a:latin typeface="Times New Roman"/>
                <a:ea typeface="Times New Roman"/>
                <a:cs typeface="Times New Roman"/>
                <a:sym typeface="Times New Roman"/>
              </a:rPr>
              <a:t>The Hospital Patient Record Management System is a database-based application designed to store, manage, and retrieve important hospital information efficiently. It maintains details of patients, doctors, appointments, and medical records in an organized manner. The system uses relational database concepts and SQL queries to perform operations such as adding, updating, deleting, and searching records. It reduces manual paperwork, minimizes data errors and duplication, and provides quick access to patient information. Overall, the system improves the efficiency, accuracy, and organization of hospital record management.</a:t>
            </a:r>
          </a:p>
        </p:txBody>
      </p:sp>
      <p:sp>
        <p:nvSpPr>
          <p:cNvPr id="4" name="Freeform 4"/>
          <p:cNvSpPr/>
          <p:nvPr/>
        </p:nvSpPr>
        <p:spPr>
          <a:xfrm rot="-5400000">
            <a:off x="643471" y="645929"/>
            <a:ext cx="1462727" cy="1260798"/>
          </a:xfrm>
          <a:custGeom>
            <a:avLst/>
            <a:gdLst/>
            <a:ahLst/>
            <a:cxnLst/>
            <a:rect l="l" t="t" r="r" b="b"/>
            <a:pathLst>
              <a:path w="1462727" h="1260798">
                <a:moveTo>
                  <a:pt x="0" y="0"/>
                </a:moveTo>
                <a:lnTo>
                  <a:pt x="1462727" y="0"/>
                </a:lnTo>
                <a:lnTo>
                  <a:pt x="1462727" y="1260798"/>
                </a:lnTo>
                <a:lnTo>
                  <a:pt x="0" y="1260798"/>
                </a:lnTo>
                <a:lnTo>
                  <a:pt x="0" y="0"/>
                </a:lnTo>
                <a:close/>
              </a:path>
            </a:pathLst>
          </a:custGeom>
          <a:blipFill>
            <a:blip r:embed="rId2"/>
            <a:stretch>
              <a:fillRect b="-804020"/>
            </a:stretch>
          </a:blipFill>
        </p:spPr>
      </p:sp>
      <p:sp>
        <p:nvSpPr>
          <p:cNvPr id="5" name="Freeform 5"/>
          <p:cNvSpPr/>
          <p:nvPr/>
        </p:nvSpPr>
        <p:spPr>
          <a:xfrm rot="-5400000">
            <a:off x="15763967" y="228094"/>
            <a:ext cx="1516358" cy="2042837"/>
          </a:xfrm>
          <a:custGeom>
            <a:avLst/>
            <a:gdLst/>
            <a:ahLst/>
            <a:cxnLst/>
            <a:rect l="l" t="t" r="r" b="b"/>
            <a:pathLst>
              <a:path w="1516358" h="2042837">
                <a:moveTo>
                  <a:pt x="0" y="0"/>
                </a:moveTo>
                <a:lnTo>
                  <a:pt x="1516358" y="0"/>
                </a:lnTo>
                <a:lnTo>
                  <a:pt x="1516358" y="2042838"/>
                </a:lnTo>
                <a:lnTo>
                  <a:pt x="0" y="2042838"/>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6730157" y="561975"/>
            <a:ext cx="4827687" cy="1381125"/>
          </a:xfrm>
          <a:prstGeom prst="rect">
            <a:avLst/>
          </a:prstGeom>
        </p:spPr>
        <p:txBody>
          <a:bodyPr lIns="0" tIns="0" rIns="0" bIns="0" rtlCol="0" anchor="t">
            <a:spAutoFit/>
          </a:bodyPr>
          <a:lstStyle/>
          <a:p>
            <a:pPr algn="ctr">
              <a:lnSpc>
                <a:spcPts val="11700"/>
              </a:lnSpc>
              <a:spcBef>
                <a:spcPct val="0"/>
              </a:spcBef>
            </a:pPr>
            <a:r>
              <a:rPr lang="en-US" sz="6000" b="1">
                <a:solidFill>
                  <a:srgbClr val="2B2B2B"/>
                </a:solidFill>
                <a:latin typeface="Times New Roman Bold"/>
                <a:ea typeface="Times New Roman Bold"/>
                <a:cs typeface="Times New Roman Bold"/>
                <a:sym typeface="Times New Roman Bold"/>
              </a:rPr>
              <a:t>OBJECTIVES</a:t>
            </a:r>
          </a:p>
        </p:txBody>
      </p:sp>
      <p:sp>
        <p:nvSpPr>
          <p:cNvPr id="3" name="TextBox 3"/>
          <p:cNvSpPr txBox="1"/>
          <p:nvPr/>
        </p:nvSpPr>
        <p:spPr>
          <a:xfrm>
            <a:off x="2367787" y="2721139"/>
            <a:ext cx="14522764" cy="5829046"/>
          </a:xfrm>
          <a:prstGeom prst="rect">
            <a:avLst/>
          </a:prstGeom>
        </p:spPr>
        <p:txBody>
          <a:bodyPr lIns="0" tIns="0" rIns="0" bIns="0" rtlCol="0" anchor="t">
            <a:spAutoFit/>
          </a:bodyPr>
          <a:lstStyle/>
          <a:p>
            <a:pPr marL="690879" lvl="1" indent="-345439" algn="just">
              <a:lnSpc>
                <a:spcPts val="5791"/>
              </a:lnSpc>
              <a:buFont typeface="Arial"/>
              <a:buChar char="•"/>
            </a:pPr>
            <a:r>
              <a:rPr lang="en-US" sz="3199">
                <a:solidFill>
                  <a:srgbClr val="2B2B2B"/>
                </a:solidFill>
                <a:latin typeface="Times New Roman"/>
                <a:ea typeface="Times New Roman"/>
                <a:cs typeface="Times New Roman"/>
                <a:sym typeface="Times New Roman"/>
              </a:rPr>
              <a:t>To design a relational database system for efficient management of hospital patient records.</a:t>
            </a:r>
          </a:p>
          <a:p>
            <a:pPr marL="690879" lvl="1" indent="-345439" algn="just">
              <a:lnSpc>
                <a:spcPts val="5791"/>
              </a:lnSpc>
              <a:buFont typeface="Arial"/>
              <a:buChar char="•"/>
            </a:pPr>
            <a:r>
              <a:rPr lang="en-US" sz="3199">
                <a:solidFill>
                  <a:srgbClr val="2B2B2B"/>
                </a:solidFill>
                <a:latin typeface="Times New Roman"/>
                <a:ea typeface="Times New Roman"/>
                <a:cs typeface="Times New Roman"/>
                <a:sym typeface="Times New Roman"/>
              </a:rPr>
              <a:t>To securely store and manage patient details, medical history, doctor information, appointments, and billing records.</a:t>
            </a:r>
          </a:p>
          <a:p>
            <a:pPr marL="690879" lvl="1" indent="-345439" algn="just">
              <a:lnSpc>
                <a:spcPts val="5791"/>
              </a:lnSpc>
              <a:buFont typeface="Arial"/>
              <a:buChar char="•"/>
            </a:pPr>
            <a:r>
              <a:rPr lang="en-US" sz="3199">
                <a:solidFill>
                  <a:srgbClr val="0D0D0D"/>
                </a:solidFill>
                <a:latin typeface="Times New Roman"/>
                <a:ea typeface="Times New Roman"/>
                <a:cs typeface="Times New Roman"/>
                <a:sym typeface="Times New Roman"/>
              </a:rPr>
              <a:t>To provide efficient data insertion, updating, searching, and retrieval using SQL queries.</a:t>
            </a:r>
          </a:p>
          <a:p>
            <a:pPr marL="690879" lvl="1" indent="-345439" algn="just">
              <a:lnSpc>
                <a:spcPts val="5791"/>
              </a:lnSpc>
              <a:buFont typeface="Arial"/>
              <a:buChar char="•"/>
            </a:pPr>
            <a:r>
              <a:rPr lang="en-US" sz="3199">
                <a:solidFill>
                  <a:srgbClr val="2B2B2B"/>
                </a:solidFill>
                <a:latin typeface="Times New Roman"/>
                <a:ea typeface="Times New Roman"/>
                <a:cs typeface="Times New Roman"/>
                <a:sym typeface="Times New Roman"/>
              </a:rPr>
              <a:t>To maintain data accuracy, consistency, and integrity using primary keys, foreign keys, and relational constraints.</a:t>
            </a:r>
          </a:p>
        </p:txBody>
      </p:sp>
      <p:sp>
        <p:nvSpPr>
          <p:cNvPr id="4" name="Freeform 4"/>
          <p:cNvSpPr/>
          <p:nvPr/>
        </p:nvSpPr>
        <p:spPr>
          <a:xfrm rot="-5400000">
            <a:off x="643471" y="645929"/>
            <a:ext cx="1462727" cy="1260798"/>
          </a:xfrm>
          <a:custGeom>
            <a:avLst/>
            <a:gdLst/>
            <a:ahLst/>
            <a:cxnLst/>
            <a:rect l="l" t="t" r="r" b="b"/>
            <a:pathLst>
              <a:path w="1462727" h="1260798">
                <a:moveTo>
                  <a:pt x="0" y="0"/>
                </a:moveTo>
                <a:lnTo>
                  <a:pt x="1462727" y="0"/>
                </a:lnTo>
                <a:lnTo>
                  <a:pt x="1462727" y="1260798"/>
                </a:lnTo>
                <a:lnTo>
                  <a:pt x="0" y="1260798"/>
                </a:lnTo>
                <a:lnTo>
                  <a:pt x="0" y="0"/>
                </a:lnTo>
                <a:close/>
              </a:path>
            </a:pathLst>
          </a:custGeom>
          <a:blipFill>
            <a:blip r:embed="rId2"/>
            <a:stretch>
              <a:fillRect b="-804020"/>
            </a:stretch>
          </a:blipFill>
        </p:spPr>
      </p:sp>
      <p:sp>
        <p:nvSpPr>
          <p:cNvPr id="5" name="Freeform 5"/>
          <p:cNvSpPr/>
          <p:nvPr/>
        </p:nvSpPr>
        <p:spPr>
          <a:xfrm rot="-5400000">
            <a:off x="15763967" y="228094"/>
            <a:ext cx="1516358" cy="2042837"/>
          </a:xfrm>
          <a:custGeom>
            <a:avLst/>
            <a:gdLst/>
            <a:ahLst/>
            <a:cxnLst/>
            <a:rect l="l" t="t" r="r" b="b"/>
            <a:pathLst>
              <a:path w="1516358" h="2042837">
                <a:moveTo>
                  <a:pt x="0" y="0"/>
                </a:moveTo>
                <a:lnTo>
                  <a:pt x="1516358" y="0"/>
                </a:lnTo>
                <a:lnTo>
                  <a:pt x="1516358" y="2042838"/>
                </a:lnTo>
                <a:lnTo>
                  <a:pt x="0" y="2042838"/>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5013370" y="626567"/>
            <a:ext cx="8714681" cy="1381125"/>
          </a:xfrm>
          <a:prstGeom prst="rect">
            <a:avLst/>
          </a:prstGeom>
        </p:spPr>
        <p:txBody>
          <a:bodyPr lIns="0" tIns="0" rIns="0" bIns="0" rtlCol="0" anchor="t">
            <a:spAutoFit/>
          </a:bodyPr>
          <a:lstStyle/>
          <a:p>
            <a:pPr algn="ctr">
              <a:lnSpc>
                <a:spcPts val="11700"/>
              </a:lnSpc>
              <a:spcBef>
                <a:spcPct val="0"/>
              </a:spcBef>
            </a:pPr>
            <a:r>
              <a:rPr lang="en-US" sz="6000" b="1">
                <a:solidFill>
                  <a:srgbClr val="2B2B2B"/>
                </a:solidFill>
                <a:latin typeface="Times New Roman Bold"/>
                <a:ea typeface="Times New Roman Bold"/>
                <a:cs typeface="Times New Roman Bold"/>
                <a:sym typeface="Times New Roman Bold"/>
              </a:rPr>
              <a:t>PROBLEM STATEMENT</a:t>
            </a:r>
          </a:p>
        </p:txBody>
      </p:sp>
      <p:sp>
        <p:nvSpPr>
          <p:cNvPr id="3" name="TextBox 3"/>
          <p:cNvSpPr txBox="1"/>
          <p:nvPr/>
        </p:nvSpPr>
        <p:spPr>
          <a:xfrm>
            <a:off x="2109329" y="2793500"/>
            <a:ext cx="14522764" cy="5619750"/>
          </a:xfrm>
          <a:prstGeom prst="rect">
            <a:avLst/>
          </a:prstGeom>
        </p:spPr>
        <p:txBody>
          <a:bodyPr lIns="0" tIns="0" rIns="0" bIns="0" rtlCol="0" anchor="t">
            <a:spAutoFit/>
          </a:bodyPr>
          <a:lstStyle/>
          <a:p>
            <a:pPr marL="647700" lvl="1" indent="-323850" algn="just">
              <a:lnSpc>
                <a:spcPts val="7500"/>
              </a:lnSpc>
              <a:buFont typeface="Arial"/>
              <a:buChar char="•"/>
            </a:pPr>
            <a:r>
              <a:rPr lang="en-US" sz="3000">
                <a:solidFill>
                  <a:srgbClr val="2B2B2B"/>
                </a:solidFill>
                <a:latin typeface="Times New Roman"/>
                <a:ea typeface="Times New Roman"/>
                <a:cs typeface="Times New Roman"/>
                <a:sym typeface="Times New Roman"/>
              </a:rPr>
              <a:t>Hospitals manage large amounts of patient information, making manual record management difficult, time-consuming, and error-prone.</a:t>
            </a:r>
          </a:p>
          <a:p>
            <a:pPr marL="647700" lvl="1" indent="-323850" algn="just">
              <a:lnSpc>
                <a:spcPts val="7500"/>
              </a:lnSpc>
              <a:buFont typeface="Arial"/>
              <a:buChar char="•"/>
            </a:pPr>
            <a:r>
              <a:rPr lang="en-US" sz="3000">
                <a:solidFill>
                  <a:srgbClr val="2B2B2B"/>
                </a:solidFill>
                <a:latin typeface="Times New Roman"/>
                <a:ea typeface="Times New Roman"/>
                <a:cs typeface="Times New Roman"/>
                <a:sym typeface="Times New Roman"/>
              </a:rPr>
              <a:t>Patient details, medical history, appointments, and billing information are often stored separately, making it difficult to retrieve and maintain records efficiently.</a:t>
            </a:r>
          </a:p>
          <a:p>
            <a:pPr marL="647700" lvl="1" indent="-323850" algn="just">
              <a:lnSpc>
                <a:spcPts val="7500"/>
              </a:lnSpc>
              <a:buFont typeface="Arial"/>
              <a:buChar char="•"/>
            </a:pPr>
            <a:r>
              <a:rPr lang="en-US" sz="3000">
                <a:solidFill>
                  <a:srgbClr val="2B2B2B"/>
                </a:solidFill>
                <a:latin typeface="Times New Roman"/>
                <a:ea typeface="Times New Roman"/>
                <a:cs typeface="Times New Roman"/>
                <a:sym typeface="Times New Roman"/>
              </a:rPr>
              <a:t>A centralized relational database system is required to securely store, organize, update, and retrieve hospital patient records while maintaining data accuracy and consistency.</a:t>
            </a:r>
          </a:p>
        </p:txBody>
      </p:sp>
      <p:sp>
        <p:nvSpPr>
          <p:cNvPr id="4" name="Freeform 4"/>
          <p:cNvSpPr/>
          <p:nvPr/>
        </p:nvSpPr>
        <p:spPr>
          <a:xfrm rot="-5400000">
            <a:off x="643471" y="645929"/>
            <a:ext cx="1462727" cy="1260798"/>
          </a:xfrm>
          <a:custGeom>
            <a:avLst/>
            <a:gdLst/>
            <a:ahLst/>
            <a:cxnLst/>
            <a:rect l="l" t="t" r="r" b="b"/>
            <a:pathLst>
              <a:path w="1462727" h="1260798">
                <a:moveTo>
                  <a:pt x="0" y="0"/>
                </a:moveTo>
                <a:lnTo>
                  <a:pt x="1462727" y="0"/>
                </a:lnTo>
                <a:lnTo>
                  <a:pt x="1462727" y="1260798"/>
                </a:lnTo>
                <a:lnTo>
                  <a:pt x="0" y="1260798"/>
                </a:lnTo>
                <a:lnTo>
                  <a:pt x="0" y="0"/>
                </a:lnTo>
                <a:close/>
              </a:path>
            </a:pathLst>
          </a:custGeom>
          <a:blipFill>
            <a:blip r:embed="rId2"/>
            <a:stretch>
              <a:fillRect b="-804020"/>
            </a:stretch>
          </a:blipFill>
        </p:spPr>
      </p:sp>
      <p:sp>
        <p:nvSpPr>
          <p:cNvPr id="5" name="Freeform 5"/>
          <p:cNvSpPr/>
          <p:nvPr/>
        </p:nvSpPr>
        <p:spPr>
          <a:xfrm rot="-5400000">
            <a:off x="15763967" y="228094"/>
            <a:ext cx="1516358" cy="2042837"/>
          </a:xfrm>
          <a:custGeom>
            <a:avLst/>
            <a:gdLst/>
            <a:ahLst/>
            <a:cxnLst/>
            <a:rect l="l" t="t" r="r" b="b"/>
            <a:pathLst>
              <a:path w="1516358" h="2042837">
                <a:moveTo>
                  <a:pt x="0" y="0"/>
                </a:moveTo>
                <a:lnTo>
                  <a:pt x="1516358" y="0"/>
                </a:lnTo>
                <a:lnTo>
                  <a:pt x="1516358" y="2042838"/>
                </a:lnTo>
                <a:lnTo>
                  <a:pt x="0" y="2042838"/>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3" name="Freeform 3"/>
          <p:cNvSpPr/>
          <p:nvPr/>
        </p:nvSpPr>
        <p:spPr>
          <a:xfrm rot="-5400000">
            <a:off x="15934876" y="7281"/>
            <a:ext cx="1516358" cy="2042837"/>
          </a:xfrm>
          <a:custGeom>
            <a:avLst/>
            <a:gdLst/>
            <a:ahLst/>
            <a:cxnLst/>
            <a:rect l="l" t="t" r="r" b="b"/>
            <a:pathLst>
              <a:path w="1516358" h="2042837">
                <a:moveTo>
                  <a:pt x="0" y="0"/>
                </a:moveTo>
                <a:lnTo>
                  <a:pt x="1516358" y="0"/>
                </a:lnTo>
                <a:lnTo>
                  <a:pt x="1516358" y="2042838"/>
                </a:lnTo>
                <a:lnTo>
                  <a:pt x="0" y="2042838"/>
                </a:lnTo>
                <a:lnTo>
                  <a:pt x="0" y="0"/>
                </a:lnTo>
                <a:close/>
              </a:path>
            </a:pathLst>
          </a:custGeom>
          <a:blipFill>
            <a:blip r:embed="rId2"/>
            <a:stretch>
              <a:fillRect t="-289216" b="-189183"/>
            </a:stretch>
          </a:blipFill>
        </p:spPr>
      </p:sp>
      <p:sp>
        <p:nvSpPr>
          <p:cNvPr id="4" name="TextBox 4"/>
          <p:cNvSpPr txBox="1"/>
          <p:nvPr/>
        </p:nvSpPr>
        <p:spPr>
          <a:xfrm>
            <a:off x="4567799" y="340672"/>
            <a:ext cx="9152401" cy="1381125"/>
          </a:xfrm>
          <a:prstGeom prst="rect">
            <a:avLst/>
          </a:prstGeom>
        </p:spPr>
        <p:txBody>
          <a:bodyPr lIns="0" tIns="0" rIns="0" bIns="0" rtlCol="0" anchor="t">
            <a:spAutoFit/>
          </a:bodyPr>
          <a:lstStyle/>
          <a:p>
            <a:pPr algn="ctr">
              <a:lnSpc>
                <a:spcPts val="11700"/>
              </a:lnSpc>
            </a:pPr>
            <a:r>
              <a:rPr lang="en-US" sz="6000" b="1">
                <a:solidFill>
                  <a:srgbClr val="2B2B2B"/>
                </a:solidFill>
                <a:latin typeface="Times New Roman Bold"/>
                <a:ea typeface="Times New Roman Bold"/>
                <a:cs typeface="Times New Roman Bold"/>
                <a:sym typeface="Times New Roman Bold"/>
              </a:rPr>
              <a:t>LITERATURE REVIEW</a:t>
            </a:r>
          </a:p>
        </p:txBody>
      </p:sp>
      <p:graphicFrame>
        <p:nvGraphicFramePr>
          <p:cNvPr id="5" name="Table 5"/>
          <p:cNvGraphicFramePr>
            <a:graphicFrameLocks noGrp="1"/>
          </p:cNvGraphicFramePr>
          <p:nvPr/>
        </p:nvGraphicFramePr>
        <p:xfrm>
          <a:off x="1989662" y="2209813"/>
          <a:ext cx="15269637" cy="7476983"/>
        </p:xfrm>
        <a:graphic>
          <a:graphicData uri="http://schemas.openxmlformats.org/drawingml/2006/table">
            <a:tbl>
              <a:tblPr/>
              <a:tblGrid>
                <a:gridCol w="2439625">
                  <a:extLst>
                    <a:ext uri="{9D8B030D-6E8A-4147-A177-3AD203B41FA5}">
                      <a16:colId xmlns:a16="http://schemas.microsoft.com/office/drawing/2014/main" val="20000"/>
                    </a:ext>
                  </a:extLst>
                </a:gridCol>
                <a:gridCol w="7376614">
                  <a:extLst>
                    <a:ext uri="{9D8B030D-6E8A-4147-A177-3AD203B41FA5}">
                      <a16:colId xmlns:a16="http://schemas.microsoft.com/office/drawing/2014/main" val="20001"/>
                    </a:ext>
                  </a:extLst>
                </a:gridCol>
                <a:gridCol w="5453398">
                  <a:extLst>
                    <a:ext uri="{9D8B030D-6E8A-4147-A177-3AD203B41FA5}">
                      <a16:colId xmlns:a16="http://schemas.microsoft.com/office/drawing/2014/main" val="20002"/>
                    </a:ext>
                  </a:extLst>
                </a:gridCol>
              </a:tblGrid>
              <a:tr h="1323374">
                <a:tc>
                  <a:txBody>
                    <a:bodyPr/>
                    <a:lstStyle/>
                    <a:p>
                      <a:pPr algn="ctr">
                        <a:lnSpc>
                          <a:spcPts val="3077"/>
                        </a:lnSpc>
                        <a:defRPr/>
                      </a:pPr>
                      <a:r>
                        <a:rPr lang="en-US" sz="2199" b="1">
                          <a:solidFill>
                            <a:srgbClr val="000000"/>
                          </a:solidFill>
                          <a:latin typeface="Times New Roman Bold"/>
                          <a:ea typeface="Times New Roman Bold"/>
                          <a:cs typeface="Times New Roman Bold"/>
                          <a:sym typeface="Times New Roman Bold"/>
                        </a:rPr>
                        <a:t>AUTHOR</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7"/>
                        </a:lnSpc>
                        <a:defRPr/>
                      </a:pPr>
                      <a:r>
                        <a:rPr lang="en-US" sz="2198" b="1">
                          <a:solidFill>
                            <a:srgbClr val="000000"/>
                          </a:solidFill>
                          <a:latin typeface="Times New Roman Bold"/>
                          <a:ea typeface="Times New Roman Bold"/>
                          <a:cs typeface="Times New Roman Bold"/>
                          <a:sym typeface="Times New Roman Bold"/>
                        </a:rPr>
                        <a:t>TITLE</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3077"/>
                        </a:lnSpc>
                        <a:defRPr/>
                      </a:pPr>
                      <a:r>
                        <a:rPr lang="en-US" sz="2199" b="1">
                          <a:solidFill>
                            <a:srgbClr val="000000"/>
                          </a:solidFill>
                          <a:latin typeface="Times New Roman Bold"/>
                          <a:ea typeface="Times New Roman Bold"/>
                          <a:cs typeface="Times New Roman Bold"/>
                          <a:sym typeface="Times New Roman Bold"/>
                        </a:rPr>
                        <a:t>KEY FINDINGS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1168002">
                <a:tc>
                  <a:txBody>
                    <a:bodyPr/>
                    <a:lstStyle/>
                    <a:p>
                      <a:pPr algn="ctr">
                        <a:lnSpc>
                          <a:spcPts val="2797"/>
                        </a:lnSpc>
                        <a:defRPr/>
                      </a:pPr>
                      <a:r>
                        <a:rPr lang="en-US" sz="1998">
                          <a:solidFill>
                            <a:srgbClr val="0D0D0D"/>
                          </a:solidFill>
                          <a:latin typeface="Times New Roman MT"/>
                          <a:ea typeface="Times New Roman MT"/>
                          <a:cs typeface="Times New Roman MT"/>
                          <a:sym typeface="Times New Roman MT"/>
                        </a:rPr>
                        <a:t>Kumar et al., 2024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7"/>
                        </a:lnSpc>
                        <a:defRPr/>
                      </a:pPr>
                      <a:r>
                        <a:rPr lang="en-US" sz="1998">
                          <a:solidFill>
                            <a:srgbClr val="0D0D0D"/>
                          </a:solidFill>
                          <a:latin typeface="Times New Roman"/>
                          <a:ea typeface="Times New Roman"/>
                          <a:cs typeface="Times New Roman"/>
                          <a:sym typeface="Times New Roman"/>
                        </a:rPr>
                        <a:t>Hospital Patient Record Management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3"/>
                        </a:lnSpc>
                        <a:defRPr/>
                      </a:pPr>
                      <a:r>
                        <a:rPr lang="en-US" sz="1998">
                          <a:solidFill>
                            <a:srgbClr val="0D0D0D"/>
                          </a:solidFill>
                          <a:latin typeface="Times New Roman MT"/>
                          <a:ea typeface="Times New Roman MT"/>
                          <a:cs typeface="Times New Roman MT"/>
                          <a:sym typeface="Times New Roman MT"/>
                        </a:rPr>
                        <a:t>Improves the organization and accessibility of patient records.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r h="1198324">
                <a:tc>
                  <a:txBody>
                    <a:bodyPr/>
                    <a:lstStyle/>
                    <a:p>
                      <a:pPr algn="ctr">
                        <a:lnSpc>
                          <a:spcPts val="2797"/>
                        </a:lnSpc>
                        <a:defRPr/>
                      </a:pPr>
                      <a:r>
                        <a:rPr lang="en-US" sz="1998">
                          <a:solidFill>
                            <a:srgbClr val="0D0D0D"/>
                          </a:solidFill>
                          <a:latin typeface="Times New Roman MT"/>
                          <a:ea typeface="Times New Roman MT"/>
                          <a:cs typeface="Times New Roman MT"/>
                          <a:sym typeface="Times New Roman MT"/>
                        </a:rPr>
                        <a:t>Sharma et al.,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7"/>
                        </a:lnSpc>
                        <a:defRPr/>
                      </a:pPr>
                      <a:r>
                        <a:rPr lang="en-US" sz="1998">
                          <a:solidFill>
                            <a:srgbClr val="0D0D0D"/>
                          </a:solidFill>
                          <a:latin typeface="Times New Roman"/>
                          <a:ea typeface="Times New Roman"/>
                          <a:cs typeface="Times New Roman"/>
                          <a:sym typeface="Times New Roman"/>
                        </a:rPr>
                        <a:t>Relational Database for Hospital Management</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000000"/>
                          </a:solidFill>
                          <a:latin typeface="Times New Roman MT"/>
                          <a:ea typeface="Times New Roman MT"/>
                          <a:cs typeface="Times New Roman MT"/>
                          <a:sym typeface="Times New Roman MT"/>
                        </a:rPr>
                        <a:t>Reduces data redundancy and improves patient data accuracy.</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2"/>
                  </a:ext>
                </a:extLst>
              </a:tr>
              <a:tr h="1168002">
                <a:tc>
                  <a:txBody>
                    <a:bodyPr/>
                    <a:lstStyle/>
                    <a:p>
                      <a:pPr algn="ctr">
                        <a:lnSpc>
                          <a:spcPts val="2798"/>
                        </a:lnSpc>
                        <a:defRPr/>
                      </a:pPr>
                      <a:r>
                        <a:rPr lang="en-US" sz="1998">
                          <a:solidFill>
                            <a:srgbClr val="2B2B2B"/>
                          </a:solidFill>
                          <a:latin typeface="Times New Roman MT"/>
                          <a:ea typeface="Times New Roman MT"/>
                          <a:cs typeface="Times New Roman MT"/>
                          <a:sym typeface="Times New Roman MT"/>
                        </a:rPr>
                        <a:t>Patel et al., 2026</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8"/>
                        </a:lnSpc>
                        <a:defRPr/>
                      </a:pPr>
                      <a:r>
                        <a:rPr lang="en-US" sz="1998">
                          <a:solidFill>
                            <a:srgbClr val="2B2B2B"/>
                          </a:solidFill>
                          <a:latin typeface="Times New Roman MT"/>
                          <a:ea typeface="Times New Roman MT"/>
                          <a:cs typeface="Times New Roman MT"/>
                          <a:sym typeface="Times New Roman MT"/>
                        </a:rPr>
                        <a:t>Smart Patient Record System Using DBMS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5"/>
                        </a:lnSpc>
                        <a:defRPr/>
                      </a:pPr>
                      <a:r>
                        <a:rPr lang="en-US" sz="1998">
                          <a:solidFill>
                            <a:srgbClr val="2B2B2B"/>
                          </a:solidFill>
                          <a:latin typeface="Times New Roman MT"/>
                          <a:ea typeface="Times New Roman MT"/>
                          <a:cs typeface="Times New Roman MT"/>
                          <a:sym typeface="Times New Roman MT"/>
                        </a:rPr>
                        <a:t>Enables faster retrieval and efficient management of patient information.</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3"/>
                  </a:ext>
                </a:extLst>
              </a:tr>
              <a:tr h="1223723">
                <a:tc>
                  <a:txBody>
                    <a:bodyPr/>
                    <a:lstStyle/>
                    <a:p>
                      <a:pPr algn="ctr">
                        <a:lnSpc>
                          <a:spcPts val="2798"/>
                        </a:lnSpc>
                        <a:defRPr/>
                      </a:pPr>
                      <a:r>
                        <a:rPr lang="en-US" sz="1998">
                          <a:solidFill>
                            <a:srgbClr val="000000"/>
                          </a:solidFill>
                          <a:latin typeface="Times New Roman MT"/>
                          <a:ea typeface="Times New Roman MT"/>
                          <a:cs typeface="Times New Roman MT"/>
                          <a:sym typeface="Times New Roman MT"/>
                        </a:rPr>
                        <a:t>Raj et al., 2025</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7"/>
                        </a:lnSpc>
                        <a:defRPr/>
                      </a:pPr>
                      <a:r>
                        <a:rPr lang="en-US" sz="1998">
                          <a:solidFill>
                            <a:srgbClr val="0D0D0D"/>
                          </a:solidFill>
                          <a:latin typeface="Times New Roman MT"/>
                          <a:ea typeface="Times New Roman MT"/>
                          <a:cs typeface="Times New Roman MT"/>
                          <a:sym typeface="Times New Roman MT"/>
                        </a:rPr>
                        <a:t>Database-Based Hospital Management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7"/>
                        </a:lnSpc>
                        <a:defRPr/>
                      </a:pPr>
                      <a:r>
                        <a:rPr lang="en-US" sz="1998">
                          <a:solidFill>
                            <a:srgbClr val="0D0D0D"/>
                          </a:solidFill>
                          <a:latin typeface="Times New Roman MT"/>
                          <a:ea typeface="Times New Roman MT"/>
                          <a:cs typeface="Times New Roman MT"/>
                          <a:sym typeface="Times New Roman MT"/>
                        </a:rPr>
                        <a:t>Supports efficient management of patients, doctors, appointments, and treatments.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4"/>
                  </a:ext>
                </a:extLst>
              </a:tr>
              <a:tr h="1395558">
                <a:tc>
                  <a:txBody>
                    <a:bodyPr/>
                    <a:lstStyle/>
                    <a:p>
                      <a:pPr algn="ctr">
                        <a:lnSpc>
                          <a:spcPts val="2797"/>
                        </a:lnSpc>
                        <a:defRPr/>
                      </a:pPr>
                      <a:r>
                        <a:rPr lang="en-US" sz="1998">
                          <a:solidFill>
                            <a:srgbClr val="000000"/>
                          </a:solidFill>
                          <a:latin typeface="Times New Roman MT"/>
                          <a:ea typeface="Times New Roman MT"/>
                          <a:cs typeface="Times New Roman MT"/>
                          <a:sym typeface="Times New Roman MT"/>
                        </a:rPr>
                        <a:t>Singh et al., 2024</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939"/>
                        </a:lnSpc>
                        <a:defRPr/>
                      </a:pPr>
                      <a:r>
                        <a:rPr lang="en-US" sz="2099">
                          <a:solidFill>
                            <a:srgbClr val="000000"/>
                          </a:solidFill>
                          <a:latin typeface="Times New Roman MT"/>
                          <a:ea typeface="Times New Roman MT"/>
                          <a:cs typeface="Times New Roman MT"/>
                          <a:sym typeface="Times New Roman MT"/>
                        </a:rPr>
                        <a:t>Secure Electronic Patient Record System</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tc>
                  <a:txBody>
                    <a:bodyPr/>
                    <a:lstStyle/>
                    <a:p>
                      <a:pPr algn="ctr">
                        <a:lnSpc>
                          <a:spcPts val="2797"/>
                        </a:lnSpc>
                        <a:defRPr/>
                      </a:pPr>
                      <a:r>
                        <a:rPr lang="en-US" sz="1998">
                          <a:solidFill>
                            <a:srgbClr val="0D0D0D"/>
                          </a:solidFill>
                          <a:latin typeface="Times New Roman MT"/>
                          <a:ea typeface="Times New Roman MT"/>
                          <a:cs typeface="Times New Roman MT"/>
                          <a:sym typeface="Times New Roman MT"/>
                        </a:rPr>
                        <a:t>Enhances data consistency, security, and reliable access to medical records.</a:t>
                      </a:r>
                      <a:endParaRPr lang="en-US" sz="1100"/>
                    </a:p>
                  </a:txBody>
                  <a:tcPr marL="190500" marR="190500" marT="190500" marB="190500" anchor="ctr">
                    <a:lnL w="38100" cap="flat" cmpd="sng" algn="ctr">
                      <a:solidFill>
                        <a:srgbClr val="000000"/>
                      </a:solidFill>
                      <a:prstDash val="solid"/>
                      <a:round/>
                      <a:headEnd type="none" w="med" len="med"/>
                      <a:tailEnd type="none" w="med" len="med"/>
                    </a:lnL>
                    <a:lnR w="38100" cap="flat" cmpd="sng" algn="ctr">
                      <a:solidFill>
                        <a:srgbClr val="000000"/>
                      </a:solidFill>
                      <a:prstDash val="solid"/>
                      <a:round/>
                      <a:headEnd type="none" w="med" len="med"/>
                      <a:tailEnd type="none" w="med" len="med"/>
                    </a:lnR>
                    <a:lnT w="38100" cap="flat" cmpd="sng" algn="ctr">
                      <a:solidFill>
                        <a:srgbClr val="000000"/>
                      </a:solidFill>
                      <a:prstDash val="solid"/>
                      <a:round/>
                      <a:headEnd type="none" w="med" len="med"/>
                      <a:tailEnd type="none" w="med" len="med"/>
                    </a:lnT>
                    <a:lnB w="381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3" name="Freeform 3"/>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5" name="TextBox 5"/>
          <p:cNvSpPr txBox="1"/>
          <p:nvPr/>
        </p:nvSpPr>
        <p:spPr>
          <a:xfrm>
            <a:off x="4482783" y="340672"/>
            <a:ext cx="9832533" cy="1381125"/>
          </a:xfrm>
          <a:prstGeom prst="rect">
            <a:avLst/>
          </a:prstGeom>
        </p:spPr>
        <p:txBody>
          <a:bodyPr lIns="0" tIns="0" rIns="0" bIns="0" rtlCol="0" anchor="t">
            <a:spAutoFit/>
          </a:bodyPr>
          <a:lstStyle/>
          <a:p>
            <a:pPr algn="ctr">
              <a:lnSpc>
                <a:spcPts val="11700"/>
              </a:lnSpc>
            </a:pPr>
            <a:r>
              <a:rPr lang="en-US" sz="6000" b="1">
                <a:solidFill>
                  <a:srgbClr val="2B2B2B"/>
                </a:solidFill>
                <a:latin typeface="Times New Roman Bold"/>
                <a:ea typeface="Times New Roman Bold"/>
                <a:cs typeface="Times New Roman Bold"/>
                <a:sym typeface="Times New Roman Bold"/>
              </a:rPr>
              <a:t>ER DIAGRAM</a:t>
            </a:r>
          </a:p>
        </p:txBody>
      </p:sp>
      <p:pic>
        <p:nvPicPr>
          <p:cNvPr id="6" name="Picture 5"/>
          <p:cNvPicPr>
            <a:picLocks noChangeAspect="1"/>
          </p:cNvPicPr>
          <p:nvPr/>
        </p:nvPicPr>
        <p:blipFill>
          <a:blip r:embed="rId3"/>
          <a:stretch>
            <a:fillRect/>
          </a:stretch>
        </p:blipFill>
        <p:spPr>
          <a:xfrm>
            <a:off x="3276600" y="1729417"/>
            <a:ext cx="11681384" cy="7787589"/>
          </a:xfrm>
          <a:prstGeom prst="rect">
            <a:avLst/>
          </a:prstGeom>
        </p:spPr>
      </p:pic>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5254532" y="561975"/>
            <a:ext cx="7565426" cy="1381125"/>
          </a:xfrm>
          <a:prstGeom prst="rect">
            <a:avLst/>
          </a:prstGeom>
        </p:spPr>
        <p:txBody>
          <a:bodyPr lIns="0" tIns="0" rIns="0" bIns="0" rtlCol="0" anchor="t">
            <a:spAutoFit/>
          </a:bodyPr>
          <a:lstStyle/>
          <a:p>
            <a:pPr algn="l">
              <a:lnSpc>
                <a:spcPts val="11700"/>
              </a:lnSpc>
            </a:pPr>
            <a:r>
              <a:rPr lang="en-US" sz="6000" b="1">
                <a:solidFill>
                  <a:srgbClr val="2B2B2B"/>
                </a:solidFill>
                <a:latin typeface="Times New Roman Bold"/>
                <a:ea typeface="Times New Roman Bold"/>
                <a:cs typeface="Times New Roman Bold"/>
                <a:sym typeface="Times New Roman Bold"/>
              </a:rPr>
              <a:t>LIST OF MODULES </a:t>
            </a:r>
          </a:p>
        </p:txBody>
      </p:sp>
      <p:sp>
        <p:nvSpPr>
          <p:cNvPr id="3" name="TextBox 3"/>
          <p:cNvSpPr txBox="1"/>
          <p:nvPr/>
        </p:nvSpPr>
        <p:spPr>
          <a:xfrm>
            <a:off x="5254532" y="2926435"/>
            <a:ext cx="14551379" cy="3576601"/>
          </a:xfrm>
          <a:prstGeom prst="rect">
            <a:avLst/>
          </a:prstGeom>
        </p:spPr>
        <p:txBody>
          <a:bodyPr lIns="0" tIns="0" rIns="0" bIns="0" rtlCol="0" anchor="t">
            <a:spAutoFit/>
          </a:bodyPr>
          <a:lstStyle/>
          <a:p>
            <a:pPr algn="l">
              <a:lnSpc>
                <a:spcPts val="9784"/>
              </a:lnSpc>
            </a:pPr>
            <a:r>
              <a:rPr lang="en-US" sz="4060">
                <a:solidFill>
                  <a:srgbClr val="2B2B2B"/>
                </a:solidFill>
                <a:latin typeface="Times New Roman"/>
                <a:ea typeface="Times New Roman"/>
                <a:cs typeface="Times New Roman"/>
                <a:sym typeface="Times New Roman"/>
              </a:rPr>
              <a:t>Module 1: Patient Registration Module</a:t>
            </a:r>
          </a:p>
          <a:p>
            <a:pPr algn="l">
              <a:lnSpc>
                <a:spcPts val="9784"/>
              </a:lnSpc>
            </a:pPr>
            <a:r>
              <a:rPr lang="en-US" sz="4060">
                <a:solidFill>
                  <a:srgbClr val="2B2B2B"/>
                </a:solidFill>
                <a:latin typeface="Times New Roman"/>
                <a:ea typeface="Times New Roman"/>
                <a:cs typeface="Times New Roman"/>
                <a:sym typeface="Times New Roman"/>
              </a:rPr>
              <a:t>Module 2:  Medical History Tracker</a:t>
            </a:r>
          </a:p>
          <a:p>
            <a:pPr algn="l">
              <a:lnSpc>
                <a:spcPts val="9784"/>
              </a:lnSpc>
            </a:pPr>
            <a:r>
              <a:rPr lang="en-US" sz="4060">
                <a:solidFill>
                  <a:srgbClr val="2B2B2B"/>
                </a:solidFill>
                <a:latin typeface="Times New Roman"/>
                <a:ea typeface="Times New Roman"/>
                <a:cs typeface="Times New Roman"/>
                <a:sym typeface="Times New Roman"/>
              </a:rPr>
              <a:t>Module 3:  Appointment &amp; Billing Module</a:t>
            </a:r>
          </a:p>
        </p:txBody>
      </p:sp>
      <p:sp>
        <p:nvSpPr>
          <p:cNvPr id="4" name="Freeform 4"/>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5" name="Freeform 5"/>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1441721" y="645831"/>
            <a:ext cx="15873652" cy="967312"/>
          </a:xfrm>
          <a:prstGeom prst="rect">
            <a:avLst/>
          </a:prstGeom>
        </p:spPr>
        <p:txBody>
          <a:bodyPr lIns="0" tIns="0" rIns="0" bIns="0" rtlCol="0" anchor="t">
            <a:spAutoFit/>
          </a:bodyPr>
          <a:lstStyle/>
          <a:p>
            <a:pPr algn="ctr">
              <a:lnSpc>
                <a:spcPts val="8343"/>
              </a:lnSpc>
            </a:pPr>
            <a:r>
              <a:rPr lang="en-US" sz="4278" b="1">
                <a:solidFill>
                  <a:srgbClr val="2B2B2B"/>
                </a:solidFill>
                <a:latin typeface="Times New Roman Bold"/>
                <a:ea typeface="Times New Roman Bold"/>
                <a:cs typeface="Times New Roman Bold"/>
                <a:sym typeface="Times New Roman Bold"/>
              </a:rPr>
              <a:t>MODULE 1 : PATIENT REGISTRATION MODULE</a:t>
            </a:r>
          </a:p>
        </p:txBody>
      </p:sp>
      <p:sp>
        <p:nvSpPr>
          <p:cNvPr id="3" name="Freeform 3"/>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4" name="Freeform 4"/>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5" name="TextBox 5"/>
          <p:cNvSpPr txBox="1"/>
          <p:nvPr/>
        </p:nvSpPr>
        <p:spPr>
          <a:xfrm>
            <a:off x="1659099" y="2029435"/>
            <a:ext cx="15891595" cy="4657805"/>
          </a:xfrm>
          <a:prstGeom prst="rect">
            <a:avLst/>
          </a:prstGeom>
        </p:spPr>
        <p:txBody>
          <a:bodyPr lIns="0" tIns="0" rIns="0" bIns="0" rtlCol="0" anchor="t">
            <a:spAutoFit/>
          </a:bodyPr>
          <a:lstStyle/>
          <a:p>
            <a:pPr algn="l">
              <a:lnSpc>
                <a:spcPts val="5136"/>
              </a:lnSpc>
            </a:pPr>
            <a:r>
              <a:rPr lang="en-US" sz="3057" b="1">
                <a:solidFill>
                  <a:srgbClr val="2B2B2B"/>
                </a:solidFill>
                <a:latin typeface="Times New Roman Bold"/>
                <a:ea typeface="Times New Roman Bold"/>
                <a:cs typeface="Times New Roman Bold"/>
                <a:sym typeface="Times New Roman Bold"/>
              </a:rPr>
              <a:t>METHODOLOGY: </a:t>
            </a:r>
          </a:p>
          <a:p>
            <a:pPr marL="584961" lvl="1" indent="-292481" algn="l">
              <a:lnSpc>
                <a:spcPts val="4551"/>
              </a:lnSpc>
              <a:buFont typeface="Arial"/>
              <a:buChar char="•"/>
            </a:pPr>
            <a:r>
              <a:rPr lang="en-US" sz="2709">
                <a:solidFill>
                  <a:srgbClr val="2B2B2B"/>
                </a:solidFill>
                <a:latin typeface="Times New Roman"/>
                <a:ea typeface="Times New Roman"/>
                <a:cs typeface="Times New Roman"/>
                <a:sym typeface="Times New Roman"/>
              </a:rPr>
              <a:t>Requirement Analysis – Identify the requirements for managing patients, doctors, medical history, appointments, and billing.</a:t>
            </a:r>
          </a:p>
          <a:p>
            <a:pPr marL="584961" lvl="1" indent="-292481" algn="l">
              <a:lnSpc>
                <a:spcPts val="4551"/>
              </a:lnSpc>
              <a:buFont typeface="Arial"/>
              <a:buChar char="•"/>
            </a:pPr>
            <a:r>
              <a:rPr lang="en-US" sz="2709">
                <a:solidFill>
                  <a:srgbClr val="2B2B2B"/>
                </a:solidFill>
                <a:latin typeface="Times New Roman"/>
                <a:ea typeface="Times New Roman"/>
                <a:cs typeface="Times New Roman"/>
                <a:sym typeface="Times New Roman"/>
              </a:rPr>
              <a:t>Database Design – Design relational tables with appropriate fields, primary keys, and foreign keys.</a:t>
            </a:r>
          </a:p>
          <a:p>
            <a:pPr marL="584961" lvl="1" indent="-292481" algn="l">
              <a:lnSpc>
                <a:spcPts val="4551"/>
              </a:lnSpc>
              <a:buFont typeface="Arial"/>
              <a:buChar char="•"/>
            </a:pPr>
            <a:r>
              <a:rPr lang="en-US" sz="2709">
                <a:solidFill>
                  <a:srgbClr val="2B2B2B"/>
                </a:solidFill>
                <a:latin typeface="Times New Roman"/>
                <a:ea typeface="Times New Roman"/>
                <a:cs typeface="Times New Roman"/>
                <a:sym typeface="Times New Roman"/>
              </a:rPr>
              <a:t>Data Management – Perform operations such as insert, update, delete, search, and retrieve patient records.</a:t>
            </a:r>
          </a:p>
          <a:p>
            <a:pPr marL="584961" lvl="1" indent="-292481" algn="l">
              <a:lnSpc>
                <a:spcPts val="4551"/>
              </a:lnSpc>
              <a:buFont typeface="Arial"/>
              <a:buChar char="•"/>
            </a:pPr>
            <a:r>
              <a:rPr lang="en-US" sz="2709">
                <a:solidFill>
                  <a:srgbClr val="2B2B2B"/>
                </a:solidFill>
                <a:latin typeface="Times New Roman"/>
                <a:ea typeface="Times New Roman"/>
                <a:cs typeface="Times New Roman"/>
                <a:sym typeface="Times New Roman"/>
              </a:rPr>
              <a:t>Relationship Management – Establish relationships between patients, doctors, appointments, medical history, and billing tables.</a:t>
            </a:r>
          </a:p>
          <a:p>
            <a:pPr marL="584961" lvl="1" indent="-292481" algn="l">
              <a:lnSpc>
                <a:spcPts val="4551"/>
              </a:lnSpc>
              <a:buFont typeface="Arial"/>
              <a:buChar char="•"/>
            </a:pPr>
            <a:r>
              <a:rPr lang="en-US" sz="2709">
                <a:solidFill>
                  <a:srgbClr val="2B2B2B"/>
                </a:solidFill>
                <a:latin typeface="Times New Roman"/>
                <a:ea typeface="Times New Roman"/>
                <a:cs typeface="Times New Roman"/>
                <a:sym typeface="Times New Roman"/>
              </a:rPr>
              <a:t>Testing – Test SQL queries and database operations to ensure accuracy and data consistency.</a:t>
            </a:r>
          </a:p>
        </p:txBody>
      </p:sp>
      <p:sp>
        <p:nvSpPr>
          <p:cNvPr id="6" name="TextBox 6"/>
          <p:cNvSpPr txBox="1"/>
          <p:nvPr/>
        </p:nvSpPr>
        <p:spPr>
          <a:xfrm>
            <a:off x="1659099" y="6781570"/>
            <a:ext cx="9206012" cy="2781299"/>
          </a:xfrm>
          <a:prstGeom prst="rect">
            <a:avLst/>
          </a:prstGeom>
        </p:spPr>
        <p:txBody>
          <a:bodyPr lIns="0" tIns="0" rIns="0" bIns="0" rtlCol="0" anchor="t">
            <a:spAutoFit/>
          </a:bodyPr>
          <a:lstStyle/>
          <a:p>
            <a:pPr algn="l">
              <a:lnSpc>
                <a:spcPts val="6434"/>
              </a:lnSpc>
              <a:spcBef>
                <a:spcPct val="0"/>
              </a:spcBef>
            </a:pPr>
            <a:r>
              <a:rPr lang="en-US" sz="3300" b="1">
                <a:solidFill>
                  <a:srgbClr val="2B2B2B"/>
                </a:solidFill>
                <a:latin typeface="Times New Roman Bold"/>
                <a:ea typeface="Times New Roman Bold"/>
                <a:cs typeface="Times New Roman Bold"/>
                <a:sym typeface="Times New Roman Bold"/>
              </a:rPr>
              <a:t>TOOLS USEDS : </a:t>
            </a:r>
          </a:p>
          <a:p>
            <a:pPr marL="582933" lvl="1" indent="-291467" algn="l">
              <a:lnSpc>
                <a:spcPts val="5265"/>
              </a:lnSpc>
              <a:buFont typeface="Arial"/>
              <a:buChar char="•"/>
            </a:pPr>
            <a:r>
              <a:rPr lang="en-US" sz="2700">
                <a:solidFill>
                  <a:srgbClr val="2B2B2B"/>
                </a:solidFill>
                <a:latin typeface="Times New Roman"/>
                <a:ea typeface="Times New Roman"/>
                <a:cs typeface="Times New Roman"/>
                <a:sym typeface="Times New Roman"/>
              </a:rPr>
              <a:t>MySQL – Database management</a:t>
            </a:r>
          </a:p>
          <a:p>
            <a:pPr marL="582933" lvl="1" indent="-291467" algn="l">
              <a:lnSpc>
                <a:spcPts val="5265"/>
              </a:lnSpc>
              <a:buFont typeface="Arial"/>
              <a:buChar char="•"/>
            </a:pPr>
            <a:r>
              <a:rPr lang="en-US" sz="2700">
                <a:solidFill>
                  <a:srgbClr val="2B2B2B"/>
                </a:solidFill>
                <a:latin typeface="Times New Roman"/>
                <a:ea typeface="Times New Roman"/>
                <a:cs typeface="Times New Roman"/>
                <a:sym typeface="Times New Roman"/>
              </a:rPr>
              <a:t>SQL – Create, insert, update, delete, and search patient records</a:t>
            </a:r>
          </a:p>
          <a:p>
            <a:pPr marL="582933" lvl="1" indent="-291467" algn="l">
              <a:lnSpc>
                <a:spcPts val="5265"/>
              </a:lnSpc>
              <a:buFont typeface="Arial"/>
              <a:buChar char="•"/>
            </a:pPr>
            <a:r>
              <a:rPr lang="en-US" sz="2700">
                <a:solidFill>
                  <a:srgbClr val="2B2B2B"/>
                </a:solidFill>
                <a:latin typeface="Times New Roman"/>
                <a:ea typeface="Times New Roman"/>
                <a:cs typeface="Times New Roman"/>
                <a:sym typeface="Times New Roman"/>
              </a:rPr>
              <a:t>MySQL Workbench – Execute and test SQL queries</a:t>
            </a: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3" name="Freeform 3"/>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4" name="Freeform 4"/>
          <p:cNvSpPr/>
          <p:nvPr/>
        </p:nvSpPr>
        <p:spPr>
          <a:xfrm>
            <a:off x="1464989" y="2606953"/>
            <a:ext cx="16013696" cy="6176972"/>
          </a:xfrm>
          <a:custGeom>
            <a:avLst/>
            <a:gdLst/>
            <a:ahLst/>
            <a:cxnLst/>
            <a:rect l="l" t="t" r="r" b="b"/>
            <a:pathLst>
              <a:path w="16013696" h="6176972">
                <a:moveTo>
                  <a:pt x="0" y="0"/>
                </a:moveTo>
                <a:lnTo>
                  <a:pt x="16013696" y="0"/>
                </a:lnTo>
                <a:lnTo>
                  <a:pt x="16013696" y="6176971"/>
                </a:lnTo>
                <a:lnTo>
                  <a:pt x="0" y="6176971"/>
                </a:lnTo>
                <a:lnTo>
                  <a:pt x="0" y="0"/>
                </a:lnTo>
                <a:close/>
              </a:path>
            </a:pathLst>
          </a:custGeom>
          <a:blipFill>
            <a:blip r:embed="rId3"/>
            <a:stretch>
              <a:fillRect t="-512" b="-512"/>
            </a:stretch>
          </a:blipFill>
        </p:spPr>
      </p:sp>
      <p:sp>
        <p:nvSpPr>
          <p:cNvPr id="5" name="TextBox 5"/>
          <p:cNvSpPr txBox="1"/>
          <p:nvPr/>
        </p:nvSpPr>
        <p:spPr>
          <a:xfrm>
            <a:off x="5692301" y="561878"/>
            <a:ext cx="7097713" cy="1465202"/>
          </a:xfrm>
          <a:prstGeom prst="rect">
            <a:avLst/>
          </a:prstGeom>
        </p:spPr>
        <p:txBody>
          <a:bodyPr lIns="0" tIns="0" rIns="0" bIns="0" rtlCol="0" anchor="t">
            <a:spAutoFit/>
          </a:bodyPr>
          <a:lstStyle/>
          <a:p>
            <a:pPr algn="ctr">
              <a:lnSpc>
                <a:spcPts val="11640"/>
              </a:lnSpc>
            </a:pPr>
            <a:r>
              <a:rPr lang="en-US" sz="8314" b="1">
                <a:solidFill>
                  <a:srgbClr val="000000"/>
                </a:solidFill>
                <a:latin typeface="Times New Roman Bold"/>
                <a:ea typeface="Times New Roman Bold"/>
                <a:cs typeface="Times New Roman Bold"/>
                <a:sym typeface="Times New Roman Bold"/>
              </a:rPr>
              <a:t>implementation</a:t>
            </a:r>
          </a:p>
        </p:txBody>
      </p:sp>
    </p:spTree>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1441721" y="645831"/>
            <a:ext cx="15873652" cy="967312"/>
          </a:xfrm>
          <a:prstGeom prst="rect">
            <a:avLst/>
          </a:prstGeom>
        </p:spPr>
        <p:txBody>
          <a:bodyPr lIns="0" tIns="0" rIns="0" bIns="0" rtlCol="0" anchor="t">
            <a:spAutoFit/>
          </a:bodyPr>
          <a:lstStyle/>
          <a:p>
            <a:pPr algn="ctr">
              <a:lnSpc>
                <a:spcPts val="8343"/>
              </a:lnSpc>
            </a:pPr>
            <a:r>
              <a:rPr lang="en-US" sz="4278" b="1">
                <a:solidFill>
                  <a:srgbClr val="2B2B2B"/>
                </a:solidFill>
                <a:latin typeface="Times New Roman Bold"/>
                <a:ea typeface="Times New Roman Bold"/>
                <a:cs typeface="Times New Roman Bold"/>
                <a:sym typeface="Times New Roman Bold"/>
              </a:rPr>
              <a:t>MODULE 2 : MEDICAL HISTORY TRACKER</a:t>
            </a:r>
          </a:p>
        </p:txBody>
      </p:sp>
      <p:sp>
        <p:nvSpPr>
          <p:cNvPr id="3" name="Freeform 3"/>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4" name="Freeform 4"/>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5" name="TextBox 5"/>
          <p:cNvSpPr txBox="1"/>
          <p:nvPr/>
        </p:nvSpPr>
        <p:spPr>
          <a:xfrm>
            <a:off x="1764713" y="2448514"/>
            <a:ext cx="14758574" cy="4550283"/>
          </a:xfrm>
          <a:prstGeom prst="rect">
            <a:avLst/>
          </a:prstGeom>
        </p:spPr>
        <p:txBody>
          <a:bodyPr lIns="0" tIns="0" rIns="0" bIns="0" rtlCol="0" anchor="t">
            <a:spAutoFit/>
          </a:bodyPr>
          <a:lstStyle/>
          <a:p>
            <a:pPr algn="l">
              <a:lnSpc>
                <a:spcPts val="4536"/>
              </a:lnSpc>
            </a:pPr>
            <a:r>
              <a:rPr lang="en-US" sz="2700" b="1">
                <a:solidFill>
                  <a:srgbClr val="2B2B2B"/>
                </a:solidFill>
                <a:latin typeface="Times New Roman Bold"/>
                <a:ea typeface="Times New Roman Bold"/>
                <a:cs typeface="Times New Roman Bold"/>
                <a:sym typeface="Times New Roman Bold"/>
              </a:rPr>
              <a:t>METHODOLOGY: </a:t>
            </a:r>
          </a:p>
          <a:p>
            <a:pPr marL="582930" lvl="1" indent="-291465" algn="l">
              <a:lnSpc>
                <a:spcPts val="4536"/>
              </a:lnSpc>
              <a:buFont typeface="Arial"/>
              <a:buChar char="•"/>
            </a:pPr>
            <a:r>
              <a:rPr lang="en-US" sz="2700">
                <a:solidFill>
                  <a:srgbClr val="2B2B2B"/>
                </a:solidFill>
                <a:latin typeface="Times New Roman"/>
                <a:ea typeface="Times New Roman"/>
                <a:cs typeface="Times New Roman"/>
                <a:sym typeface="Times New Roman"/>
              </a:rPr>
              <a:t>Doctor and Medical History Table Creation – Create tables to store doctor and patient medical information.</a:t>
            </a:r>
          </a:p>
          <a:p>
            <a:pPr marL="582930" lvl="1" indent="-291465" algn="l">
              <a:lnSpc>
                <a:spcPts val="4536"/>
              </a:lnSpc>
              <a:buFont typeface="Arial"/>
              <a:buChar char="•"/>
            </a:pPr>
            <a:r>
              <a:rPr lang="en-US" sz="2700">
                <a:solidFill>
                  <a:srgbClr val="2B2B2B"/>
                </a:solidFill>
                <a:latin typeface="Times New Roman"/>
                <a:ea typeface="Times New Roman"/>
                <a:cs typeface="Times New Roman"/>
                <a:sym typeface="Times New Roman"/>
              </a:rPr>
              <a:t>Relationship Establishment – Connect Patient, Doctor, and Medical History tables using foreign keys.</a:t>
            </a:r>
          </a:p>
          <a:p>
            <a:pPr marL="582930" lvl="1" indent="-291465" algn="l">
              <a:lnSpc>
                <a:spcPts val="4536"/>
              </a:lnSpc>
              <a:buFont typeface="Arial"/>
              <a:buChar char="•"/>
            </a:pPr>
            <a:r>
              <a:rPr lang="en-US" sz="2700">
                <a:solidFill>
                  <a:srgbClr val="2B2B2B"/>
                </a:solidFill>
                <a:latin typeface="Times New Roman"/>
                <a:ea typeface="Times New Roman"/>
                <a:cs typeface="Times New Roman"/>
                <a:sym typeface="Times New Roman"/>
              </a:rPr>
              <a:t>Medical Data Entry – Add diagnosis, treatment, prescription, and doctor notes.</a:t>
            </a:r>
          </a:p>
          <a:p>
            <a:pPr marL="582930" lvl="1" indent="-291465" algn="l">
              <a:lnSpc>
                <a:spcPts val="4536"/>
              </a:lnSpc>
              <a:buFont typeface="Arial"/>
              <a:buChar char="•"/>
            </a:pPr>
            <a:r>
              <a:rPr lang="en-US" sz="2700">
                <a:solidFill>
                  <a:srgbClr val="2B2B2B"/>
                </a:solidFill>
                <a:latin typeface="Times New Roman"/>
                <a:ea typeface="Times New Roman"/>
                <a:cs typeface="Times New Roman"/>
                <a:sym typeface="Times New Roman"/>
              </a:rPr>
              <a:t>Data Retrieval – Use SQL queries to view and search a patient’s medical history.</a:t>
            </a:r>
          </a:p>
          <a:p>
            <a:pPr marL="582930" lvl="1" indent="-291465" algn="l">
              <a:lnSpc>
                <a:spcPts val="4536"/>
              </a:lnSpc>
              <a:buFont typeface="Arial"/>
              <a:buChar char="•"/>
            </a:pPr>
            <a:r>
              <a:rPr lang="en-US" sz="2700">
                <a:solidFill>
                  <a:srgbClr val="2B2B2B"/>
                </a:solidFill>
                <a:latin typeface="Times New Roman"/>
                <a:ea typeface="Times New Roman"/>
                <a:cs typeface="Times New Roman"/>
                <a:sym typeface="Times New Roman"/>
              </a:rPr>
              <a:t>Data Maintenance – Update medical records whenever new diagnosis or treatment information is available.</a:t>
            </a:r>
          </a:p>
        </p:txBody>
      </p:sp>
      <p:sp>
        <p:nvSpPr>
          <p:cNvPr id="6" name="TextBox 6"/>
          <p:cNvSpPr txBox="1"/>
          <p:nvPr/>
        </p:nvSpPr>
        <p:spPr>
          <a:xfrm>
            <a:off x="1764712" y="7102810"/>
            <a:ext cx="10579687" cy="2718693"/>
          </a:xfrm>
          <a:prstGeom prst="rect">
            <a:avLst/>
          </a:prstGeom>
        </p:spPr>
        <p:txBody>
          <a:bodyPr wrap="square" lIns="0" tIns="0" rIns="0" bIns="0" rtlCol="0" anchor="t">
            <a:spAutoFit/>
          </a:bodyPr>
          <a:lstStyle/>
          <a:p>
            <a:pPr algn="l">
              <a:lnSpc>
                <a:spcPts val="5265"/>
              </a:lnSpc>
              <a:spcBef>
                <a:spcPct val="0"/>
              </a:spcBef>
            </a:pPr>
            <a:r>
              <a:rPr lang="en-US" sz="2700" b="1" dirty="0">
                <a:solidFill>
                  <a:srgbClr val="2B2B2B"/>
                </a:solidFill>
                <a:latin typeface="Times New Roman Bold"/>
                <a:ea typeface="Times New Roman Bold"/>
                <a:cs typeface="Times New Roman Bold"/>
                <a:sym typeface="Times New Roman Bold"/>
              </a:rPr>
              <a:t>TOOLS USEDS : </a:t>
            </a:r>
          </a:p>
          <a:p>
            <a:pPr marL="582930" lvl="1" indent="-291465" algn="l">
              <a:lnSpc>
                <a:spcPts val="5265"/>
              </a:lnSpc>
              <a:buFont typeface="Arial"/>
              <a:buChar char="•"/>
            </a:pPr>
            <a:r>
              <a:rPr lang="en-US" sz="2700" dirty="0">
                <a:solidFill>
                  <a:srgbClr val="2B2B2B"/>
                </a:solidFill>
                <a:latin typeface="Times New Roman"/>
                <a:ea typeface="Times New Roman"/>
                <a:cs typeface="Times New Roman"/>
                <a:sym typeface="Times New Roman"/>
              </a:rPr>
              <a:t>MySQL – Store and manage medical history and doctor records.</a:t>
            </a:r>
          </a:p>
          <a:p>
            <a:pPr marL="582930" lvl="1" indent="-291465" algn="l">
              <a:lnSpc>
                <a:spcPts val="5265"/>
              </a:lnSpc>
              <a:buFont typeface="Arial"/>
              <a:buChar char="•"/>
            </a:pPr>
            <a:r>
              <a:rPr lang="en-US" sz="2700" dirty="0">
                <a:solidFill>
                  <a:srgbClr val="2B2B2B"/>
                </a:solidFill>
                <a:latin typeface="Times New Roman"/>
                <a:ea typeface="Times New Roman"/>
                <a:cs typeface="Times New Roman"/>
                <a:sym typeface="Times New Roman"/>
              </a:rPr>
              <a:t>SQL – Insert, update, search, and retrieve medical history.</a:t>
            </a:r>
          </a:p>
          <a:p>
            <a:pPr marL="582930" lvl="1" indent="-291465" algn="l">
              <a:lnSpc>
                <a:spcPts val="5265"/>
              </a:lnSpc>
              <a:buFont typeface="Arial"/>
              <a:buChar char="•"/>
            </a:pPr>
            <a:r>
              <a:rPr lang="en-US" sz="2700" dirty="0">
                <a:solidFill>
                  <a:srgbClr val="2B2B2B"/>
                </a:solidFill>
                <a:latin typeface="Times New Roman"/>
                <a:ea typeface="Times New Roman"/>
                <a:cs typeface="Times New Roman"/>
                <a:sym typeface="Times New Roman"/>
              </a:rPr>
              <a:t>MySQL Workbench – Create tables and execute SQL queries.</a:t>
            </a:r>
          </a:p>
        </p:txBody>
      </p:sp>
    </p:spTree>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3" name="Freeform 3"/>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4" name="Freeform 4"/>
          <p:cNvSpPr/>
          <p:nvPr/>
        </p:nvSpPr>
        <p:spPr>
          <a:xfrm>
            <a:off x="1370923" y="2461058"/>
            <a:ext cx="15888377" cy="6402022"/>
          </a:xfrm>
          <a:custGeom>
            <a:avLst/>
            <a:gdLst/>
            <a:ahLst/>
            <a:cxnLst/>
            <a:rect l="l" t="t" r="r" b="b"/>
            <a:pathLst>
              <a:path w="15888377" h="6402022">
                <a:moveTo>
                  <a:pt x="0" y="0"/>
                </a:moveTo>
                <a:lnTo>
                  <a:pt x="15888377" y="0"/>
                </a:lnTo>
                <a:lnTo>
                  <a:pt x="15888377" y="6402022"/>
                </a:lnTo>
                <a:lnTo>
                  <a:pt x="0" y="6402022"/>
                </a:lnTo>
                <a:lnTo>
                  <a:pt x="0" y="0"/>
                </a:lnTo>
                <a:close/>
              </a:path>
            </a:pathLst>
          </a:custGeom>
          <a:blipFill>
            <a:blip r:embed="rId3"/>
            <a:stretch>
              <a:fillRect/>
            </a:stretch>
          </a:blipFill>
        </p:spPr>
      </p:sp>
      <p:sp>
        <p:nvSpPr>
          <p:cNvPr id="5" name="TextBox 5"/>
          <p:cNvSpPr txBox="1"/>
          <p:nvPr/>
        </p:nvSpPr>
        <p:spPr>
          <a:xfrm>
            <a:off x="5452868" y="367487"/>
            <a:ext cx="7729732" cy="1500411"/>
          </a:xfrm>
          <a:prstGeom prst="rect">
            <a:avLst/>
          </a:prstGeom>
        </p:spPr>
        <p:txBody>
          <a:bodyPr wrap="square" lIns="0" tIns="0" rIns="0" bIns="0" rtlCol="0" anchor="t">
            <a:spAutoFit/>
          </a:bodyPr>
          <a:lstStyle/>
          <a:p>
            <a:pPr algn="ctr">
              <a:lnSpc>
                <a:spcPts val="11700"/>
              </a:lnSpc>
              <a:spcBef>
                <a:spcPct val="0"/>
              </a:spcBef>
            </a:pPr>
            <a:r>
              <a:rPr lang="en-US" sz="6000" b="1" dirty="0">
                <a:solidFill>
                  <a:srgbClr val="000000"/>
                </a:solidFill>
                <a:latin typeface="Times New Roman Bold"/>
                <a:ea typeface="Times New Roman Bold"/>
                <a:cs typeface="Times New Roman Bold"/>
                <a:sym typeface="Times New Roman Bold"/>
              </a:rPr>
              <a:t>IMPLEMENTATION</a:t>
            </a:r>
          </a:p>
        </p:txBody>
      </p:sp>
    </p:spTree>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1441721" y="645831"/>
            <a:ext cx="15873652" cy="967312"/>
          </a:xfrm>
          <a:prstGeom prst="rect">
            <a:avLst/>
          </a:prstGeom>
        </p:spPr>
        <p:txBody>
          <a:bodyPr lIns="0" tIns="0" rIns="0" bIns="0" rtlCol="0" anchor="t">
            <a:spAutoFit/>
          </a:bodyPr>
          <a:lstStyle/>
          <a:p>
            <a:pPr algn="ctr">
              <a:lnSpc>
                <a:spcPts val="8343"/>
              </a:lnSpc>
            </a:pPr>
            <a:r>
              <a:rPr lang="en-US" sz="4278" b="1">
                <a:solidFill>
                  <a:srgbClr val="2B2B2B"/>
                </a:solidFill>
                <a:latin typeface="Times New Roman Bold"/>
                <a:ea typeface="Times New Roman Bold"/>
                <a:cs typeface="Times New Roman Bold"/>
                <a:sym typeface="Times New Roman Bold"/>
              </a:rPr>
              <a:t>MODULE 3 : APPOINTMENT &amp; BILLING MODULE</a:t>
            </a:r>
          </a:p>
        </p:txBody>
      </p:sp>
      <p:sp>
        <p:nvSpPr>
          <p:cNvPr id="3" name="Freeform 3"/>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4" name="Freeform 4"/>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5" name="TextBox 5"/>
          <p:cNvSpPr txBox="1"/>
          <p:nvPr/>
        </p:nvSpPr>
        <p:spPr>
          <a:xfrm>
            <a:off x="1722120" y="1953244"/>
            <a:ext cx="15947669" cy="4692199"/>
          </a:xfrm>
          <a:prstGeom prst="rect">
            <a:avLst/>
          </a:prstGeom>
        </p:spPr>
        <p:txBody>
          <a:bodyPr lIns="0" tIns="0" rIns="0" bIns="0" rtlCol="0" anchor="t">
            <a:spAutoFit/>
          </a:bodyPr>
          <a:lstStyle/>
          <a:p>
            <a:pPr algn="l">
              <a:lnSpc>
                <a:spcPts val="5027"/>
              </a:lnSpc>
            </a:pPr>
            <a:r>
              <a:rPr lang="en-US" sz="2992" b="1" dirty="0">
                <a:solidFill>
                  <a:srgbClr val="2B2B2B"/>
                </a:solidFill>
                <a:latin typeface="Times New Roman Bold"/>
                <a:ea typeface="Times New Roman Bold"/>
                <a:cs typeface="Times New Roman Bold"/>
                <a:sym typeface="Times New Roman Bold"/>
              </a:rPr>
              <a:t>METHODOLOGY: </a:t>
            </a:r>
          </a:p>
          <a:p>
            <a:pPr marL="594072" lvl="1" indent="-297036" algn="l">
              <a:lnSpc>
                <a:spcPts val="4622"/>
              </a:lnSpc>
              <a:buFont typeface="Arial"/>
              <a:buChar char="•"/>
            </a:pPr>
            <a:r>
              <a:rPr lang="en-US" sz="2751" dirty="0">
                <a:solidFill>
                  <a:srgbClr val="2B2B2B"/>
                </a:solidFill>
                <a:latin typeface="Times New Roman"/>
                <a:ea typeface="Times New Roman"/>
                <a:cs typeface="Times New Roman"/>
                <a:sym typeface="Times New Roman"/>
              </a:rPr>
              <a:t>Appointment Table Creation – Create a table to store patient appointments, doctor details, date, time, and status.</a:t>
            </a:r>
          </a:p>
          <a:p>
            <a:pPr marL="594072" lvl="1" indent="-297036" algn="l">
              <a:lnSpc>
                <a:spcPts val="4622"/>
              </a:lnSpc>
              <a:buFont typeface="Arial"/>
              <a:buChar char="•"/>
            </a:pPr>
            <a:r>
              <a:rPr lang="en-US" sz="2751" dirty="0">
                <a:solidFill>
                  <a:srgbClr val="2B2B2B"/>
                </a:solidFill>
                <a:latin typeface="Times New Roman"/>
                <a:ea typeface="Times New Roman"/>
                <a:cs typeface="Times New Roman"/>
                <a:sym typeface="Times New Roman"/>
              </a:rPr>
              <a:t>Billing Table Creation – Store consultation, laboratory, medicine fees, total amount, and payment status.</a:t>
            </a:r>
          </a:p>
          <a:p>
            <a:pPr marL="594072" lvl="1" indent="-297036" algn="l">
              <a:lnSpc>
                <a:spcPts val="4622"/>
              </a:lnSpc>
              <a:buFont typeface="Arial"/>
              <a:buChar char="•"/>
            </a:pPr>
            <a:r>
              <a:rPr lang="en-US" sz="2751" dirty="0">
                <a:solidFill>
                  <a:srgbClr val="2B2B2B"/>
                </a:solidFill>
                <a:latin typeface="Times New Roman"/>
                <a:ea typeface="Times New Roman"/>
                <a:cs typeface="Times New Roman"/>
                <a:sym typeface="Times New Roman"/>
              </a:rPr>
              <a:t>Relationship Establishment – Connect Patient, Doctor, Appointment, and Billing tables using foreign keys.</a:t>
            </a:r>
          </a:p>
          <a:p>
            <a:pPr marL="594072" lvl="1" indent="-297036" algn="l">
              <a:lnSpc>
                <a:spcPts val="4622"/>
              </a:lnSpc>
              <a:buFont typeface="Arial"/>
              <a:buChar char="•"/>
            </a:pPr>
            <a:r>
              <a:rPr lang="en-US" sz="2751" dirty="0">
                <a:solidFill>
                  <a:srgbClr val="2B2B2B"/>
                </a:solidFill>
                <a:latin typeface="Times New Roman"/>
                <a:ea typeface="Times New Roman"/>
                <a:cs typeface="Times New Roman"/>
                <a:sym typeface="Times New Roman"/>
              </a:rPr>
              <a:t>Appointment Management – Add, update, and retrieve appointment details.</a:t>
            </a:r>
          </a:p>
          <a:p>
            <a:pPr marL="594072" lvl="1" indent="-297036" algn="l">
              <a:lnSpc>
                <a:spcPts val="4622"/>
              </a:lnSpc>
              <a:buFont typeface="Arial"/>
              <a:buChar char="•"/>
            </a:pPr>
            <a:r>
              <a:rPr lang="en-US" sz="2751" dirty="0">
                <a:solidFill>
                  <a:srgbClr val="2B2B2B"/>
                </a:solidFill>
                <a:latin typeface="Times New Roman"/>
                <a:ea typeface="Times New Roman"/>
                <a:cs typeface="Times New Roman"/>
                <a:sym typeface="Times New Roman"/>
              </a:rPr>
              <a:t>Bill Generation – Calculate and store the total billing amount for each appointment.</a:t>
            </a:r>
          </a:p>
          <a:p>
            <a:pPr marL="594072" lvl="1" indent="-297036" algn="l">
              <a:lnSpc>
                <a:spcPts val="4622"/>
              </a:lnSpc>
              <a:buFont typeface="Arial"/>
              <a:buChar char="•"/>
            </a:pPr>
            <a:r>
              <a:rPr lang="en-US" sz="2751" dirty="0">
                <a:solidFill>
                  <a:srgbClr val="2B2B2B"/>
                </a:solidFill>
                <a:latin typeface="Times New Roman"/>
                <a:ea typeface="Times New Roman"/>
                <a:cs typeface="Times New Roman"/>
                <a:sym typeface="Times New Roman"/>
              </a:rPr>
              <a:t>Payment Tracking – Track whether the bill is paid or pending using the payment status.</a:t>
            </a:r>
          </a:p>
        </p:txBody>
      </p:sp>
      <p:sp>
        <p:nvSpPr>
          <p:cNvPr id="6" name="TextBox 6"/>
          <p:cNvSpPr txBox="1"/>
          <p:nvPr/>
        </p:nvSpPr>
        <p:spPr>
          <a:xfrm>
            <a:off x="1905000" y="6743700"/>
            <a:ext cx="13199901" cy="2859757"/>
          </a:xfrm>
          <a:prstGeom prst="rect">
            <a:avLst/>
          </a:prstGeom>
        </p:spPr>
        <p:txBody>
          <a:bodyPr wrap="square" lIns="0" tIns="0" rIns="0" bIns="0" rtlCol="0" anchor="t">
            <a:spAutoFit/>
          </a:bodyPr>
          <a:lstStyle/>
          <a:p>
            <a:pPr algn="l">
              <a:lnSpc>
                <a:spcPts val="6434"/>
              </a:lnSpc>
              <a:spcBef>
                <a:spcPct val="0"/>
              </a:spcBef>
            </a:pPr>
            <a:r>
              <a:rPr lang="en-US" sz="3300" b="1" dirty="0">
                <a:solidFill>
                  <a:srgbClr val="2B2B2B"/>
                </a:solidFill>
                <a:latin typeface="Times New Roman Bold"/>
                <a:ea typeface="Times New Roman Bold"/>
                <a:cs typeface="Times New Roman Bold"/>
                <a:sym typeface="Times New Roman Bold"/>
              </a:rPr>
              <a:t>TOOLS USEDS : </a:t>
            </a:r>
          </a:p>
          <a:p>
            <a:pPr marL="582933" lvl="1" indent="-291467" algn="l">
              <a:lnSpc>
                <a:spcPts val="5265"/>
              </a:lnSpc>
              <a:buFont typeface="Arial"/>
              <a:buChar char="•"/>
            </a:pPr>
            <a:r>
              <a:rPr lang="en-US" sz="2700" dirty="0">
                <a:solidFill>
                  <a:srgbClr val="2B2B2B"/>
                </a:solidFill>
                <a:latin typeface="Times New Roman"/>
                <a:ea typeface="Times New Roman"/>
                <a:cs typeface="Times New Roman"/>
                <a:sym typeface="Times New Roman"/>
              </a:rPr>
              <a:t>MySQL – Manage appointment and billing records.</a:t>
            </a:r>
          </a:p>
          <a:p>
            <a:pPr marL="582933" lvl="1" indent="-291467" algn="l">
              <a:lnSpc>
                <a:spcPts val="5265"/>
              </a:lnSpc>
              <a:buFont typeface="Arial"/>
              <a:buChar char="•"/>
            </a:pPr>
            <a:r>
              <a:rPr lang="en-US" sz="2700" dirty="0">
                <a:solidFill>
                  <a:srgbClr val="2B2B2B"/>
                </a:solidFill>
                <a:latin typeface="Times New Roman"/>
                <a:ea typeface="Times New Roman"/>
                <a:cs typeface="Times New Roman"/>
                <a:sym typeface="Times New Roman"/>
              </a:rPr>
              <a:t>SQL – Create tables, insert appointment details, generate bills, and track payments.</a:t>
            </a:r>
          </a:p>
          <a:p>
            <a:pPr marL="582933" lvl="1" indent="-291467" algn="l">
              <a:lnSpc>
                <a:spcPts val="5265"/>
              </a:lnSpc>
              <a:buFont typeface="Arial"/>
              <a:buChar char="•"/>
            </a:pPr>
            <a:r>
              <a:rPr lang="en-US" sz="2700" dirty="0">
                <a:solidFill>
                  <a:srgbClr val="2B2B2B"/>
                </a:solidFill>
                <a:latin typeface="Times New Roman"/>
                <a:ea typeface="Times New Roman"/>
                <a:cs typeface="Times New Roman"/>
                <a:sym typeface="Times New Roman"/>
              </a:rPr>
              <a:t>MySQL Workbench – Execute and test SQL queries.</a:t>
            </a:r>
          </a:p>
        </p:txBody>
      </p:sp>
    </p:spTree>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3" name="Freeform 3"/>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4" name="Freeform 4"/>
          <p:cNvSpPr/>
          <p:nvPr/>
        </p:nvSpPr>
        <p:spPr>
          <a:xfrm>
            <a:off x="1226983" y="2545050"/>
            <a:ext cx="16349927" cy="6552862"/>
          </a:xfrm>
          <a:custGeom>
            <a:avLst/>
            <a:gdLst/>
            <a:ahLst/>
            <a:cxnLst/>
            <a:rect l="l" t="t" r="r" b="b"/>
            <a:pathLst>
              <a:path w="16349927" h="6552862">
                <a:moveTo>
                  <a:pt x="0" y="0"/>
                </a:moveTo>
                <a:lnTo>
                  <a:pt x="16349927" y="0"/>
                </a:lnTo>
                <a:lnTo>
                  <a:pt x="16349927" y="6552862"/>
                </a:lnTo>
                <a:lnTo>
                  <a:pt x="0" y="6552862"/>
                </a:lnTo>
                <a:lnTo>
                  <a:pt x="0" y="0"/>
                </a:lnTo>
                <a:close/>
              </a:path>
            </a:pathLst>
          </a:custGeom>
          <a:blipFill>
            <a:blip r:embed="rId3"/>
            <a:stretch>
              <a:fillRect/>
            </a:stretch>
          </a:blipFill>
        </p:spPr>
      </p:sp>
      <p:sp>
        <p:nvSpPr>
          <p:cNvPr id="5" name="TextBox 5"/>
          <p:cNvSpPr txBox="1"/>
          <p:nvPr/>
        </p:nvSpPr>
        <p:spPr>
          <a:xfrm>
            <a:off x="5452868" y="367487"/>
            <a:ext cx="7805932" cy="1500411"/>
          </a:xfrm>
          <a:prstGeom prst="rect">
            <a:avLst/>
          </a:prstGeom>
        </p:spPr>
        <p:txBody>
          <a:bodyPr wrap="square" lIns="0" tIns="0" rIns="0" bIns="0" rtlCol="0" anchor="t">
            <a:spAutoFit/>
          </a:bodyPr>
          <a:lstStyle/>
          <a:p>
            <a:pPr algn="ctr">
              <a:lnSpc>
                <a:spcPts val="11700"/>
              </a:lnSpc>
              <a:spcBef>
                <a:spcPct val="0"/>
              </a:spcBef>
            </a:pPr>
            <a:r>
              <a:rPr lang="en-US" sz="6000" b="1" dirty="0">
                <a:solidFill>
                  <a:srgbClr val="000000"/>
                </a:solidFill>
                <a:latin typeface="Times New Roman Bold"/>
                <a:ea typeface="Times New Roman Bold"/>
                <a:cs typeface="Times New Roman Bold"/>
                <a:sym typeface="Times New Roman Bold"/>
              </a:rPr>
              <a:t>IMPLEMENTATION</a:t>
            </a:r>
          </a:p>
        </p:txBody>
      </p:sp>
    </p:spTree>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Freeform 2"/>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3" name="Freeform 3"/>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
        <p:nvSpPr>
          <p:cNvPr id="4" name="Freeform 4"/>
          <p:cNvSpPr/>
          <p:nvPr/>
        </p:nvSpPr>
        <p:spPr>
          <a:xfrm>
            <a:off x="2626837" y="2324971"/>
            <a:ext cx="13034325" cy="6933329"/>
          </a:xfrm>
          <a:custGeom>
            <a:avLst/>
            <a:gdLst/>
            <a:ahLst/>
            <a:cxnLst/>
            <a:rect l="l" t="t" r="r" b="b"/>
            <a:pathLst>
              <a:path w="13034325" h="6933329">
                <a:moveTo>
                  <a:pt x="0" y="0"/>
                </a:moveTo>
                <a:lnTo>
                  <a:pt x="13034326" y="0"/>
                </a:lnTo>
                <a:lnTo>
                  <a:pt x="13034326" y="6933329"/>
                </a:lnTo>
                <a:lnTo>
                  <a:pt x="0" y="6933329"/>
                </a:lnTo>
                <a:lnTo>
                  <a:pt x="0" y="0"/>
                </a:lnTo>
                <a:close/>
              </a:path>
            </a:pathLst>
          </a:custGeom>
          <a:blipFill>
            <a:blip r:embed="rId3"/>
            <a:stretch>
              <a:fillRect/>
            </a:stretch>
          </a:blipFill>
        </p:spPr>
      </p:sp>
      <p:sp>
        <p:nvSpPr>
          <p:cNvPr id="5" name="TextBox 5"/>
          <p:cNvSpPr txBox="1"/>
          <p:nvPr/>
        </p:nvSpPr>
        <p:spPr>
          <a:xfrm>
            <a:off x="5452868" y="367487"/>
            <a:ext cx="7577332" cy="1500411"/>
          </a:xfrm>
          <a:prstGeom prst="rect">
            <a:avLst/>
          </a:prstGeom>
        </p:spPr>
        <p:txBody>
          <a:bodyPr wrap="square" lIns="0" tIns="0" rIns="0" bIns="0" rtlCol="0" anchor="t">
            <a:spAutoFit/>
          </a:bodyPr>
          <a:lstStyle/>
          <a:p>
            <a:pPr algn="ctr">
              <a:lnSpc>
                <a:spcPts val="11700"/>
              </a:lnSpc>
              <a:spcBef>
                <a:spcPct val="0"/>
              </a:spcBef>
            </a:pPr>
            <a:r>
              <a:rPr lang="en-US" sz="6000" b="1" dirty="0">
                <a:solidFill>
                  <a:srgbClr val="000000"/>
                </a:solidFill>
                <a:latin typeface="Times New Roman Bold"/>
                <a:ea typeface="Times New Roman Bold"/>
                <a:cs typeface="Times New Roman Bold"/>
                <a:sym typeface="Times New Roman Bold"/>
              </a:rPr>
              <a:t>IMPLEMENTATION</a:t>
            </a:r>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4581969" y="641651"/>
            <a:ext cx="10597682" cy="1381125"/>
          </a:xfrm>
          <a:prstGeom prst="rect">
            <a:avLst/>
          </a:prstGeom>
        </p:spPr>
        <p:txBody>
          <a:bodyPr lIns="0" tIns="0" rIns="0" bIns="0" rtlCol="0" anchor="t">
            <a:spAutoFit/>
          </a:bodyPr>
          <a:lstStyle/>
          <a:p>
            <a:pPr algn="ctr">
              <a:lnSpc>
                <a:spcPts val="11700"/>
              </a:lnSpc>
            </a:pPr>
            <a:r>
              <a:rPr lang="en-US" sz="6000" b="1">
                <a:solidFill>
                  <a:srgbClr val="2B2B2B"/>
                </a:solidFill>
                <a:latin typeface="Times New Roman Bold"/>
                <a:ea typeface="Times New Roman Bold"/>
                <a:cs typeface="Times New Roman Bold"/>
                <a:sym typeface="Times New Roman Bold"/>
              </a:rPr>
              <a:t>FUTURE ENHANCEMENTS</a:t>
            </a:r>
          </a:p>
        </p:txBody>
      </p:sp>
      <p:sp>
        <p:nvSpPr>
          <p:cNvPr id="3" name="TextBox 3"/>
          <p:cNvSpPr txBox="1"/>
          <p:nvPr/>
        </p:nvSpPr>
        <p:spPr>
          <a:xfrm>
            <a:off x="2941291" y="2768469"/>
            <a:ext cx="13143961" cy="5807506"/>
          </a:xfrm>
          <a:prstGeom prst="rect">
            <a:avLst/>
          </a:prstGeom>
        </p:spPr>
        <p:txBody>
          <a:bodyPr lIns="0" tIns="0" rIns="0" bIns="0" rtlCol="0" anchor="t">
            <a:spAutoFit/>
          </a:bodyPr>
          <a:lstStyle/>
          <a:p>
            <a:pPr marL="686122" lvl="1" indent="-343061" algn="l">
              <a:lnSpc>
                <a:spcPts val="6610"/>
              </a:lnSpc>
              <a:buFont typeface="Arial"/>
              <a:buChar char="•"/>
            </a:pPr>
            <a:r>
              <a:rPr lang="en-US" sz="3177">
                <a:solidFill>
                  <a:srgbClr val="2B2B2B"/>
                </a:solidFill>
                <a:latin typeface="Times New Roman"/>
                <a:ea typeface="Times New Roman"/>
                <a:cs typeface="Times New Roman"/>
                <a:sym typeface="Times New Roman"/>
              </a:rPr>
              <a:t>Allow patients to book, reschedule, and cancel hospital appointments online.</a:t>
            </a:r>
          </a:p>
          <a:p>
            <a:pPr marL="686122" lvl="1" indent="-343061" algn="l">
              <a:lnSpc>
                <a:spcPts val="6610"/>
              </a:lnSpc>
              <a:buFont typeface="Arial"/>
              <a:buChar char="•"/>
            </a:pPr>
            <a:r>
              <a:rPr lang="en-US" sz="3177">
                <a:solidFill>
                  <a:srgbClr val="2B2B2B"/>
                </a:solidFill>
                <a:latin typeface="Times New Roman"/>
                <a:ea typeface="Times New Roman"/>
                <a:cs typeface="Times New Roman"/>
                <a:sym typeface="Times New Roman"/>
              </a:rPr>
              <a:t>Develop a mobile application for patients and doctors to access medical records and appointments.</a:t>
            </a:r>
          </a:p>
          <a:p>
            <a:pPr marL="686122" lvl="1" indent="-343061" algn="l">
              <a:lnSpc>
                <a:spcPts val="6610"/>
              </a:lnSpc>
              <a:buFont typeface="Arial"/>
              <a:buChar char="•"/>
            </a:pPr>
            <a:r>
              <a:rPr lang="en-US" sz="3177">
                <a:solidFill>
                  <a:srgbClr val="2B2B2B"/>
                </a:solidFill>
                <a:latin typeface="Times New Roman"/>
                <a:ea typeface="Times New Roman"/>
                <a:cs typeface="Times New Roman"/>
                <a:sym typeface="Times New Roman"/>
              </a:rPr>
              <a:t>Implement cloud-based storage and automatic backup for secure and reliable patient data management.</a:t>
            </a:r>
          </a:p>
          <a:p>
            <a:pPr marL="686122" lvl="1" indent="-343061" algn="l">
              <a:lnSpc>
                <a:spcPts val="6610"/>
              </a:lnSpc>
              <a:buFont typeface="Arial"/>
              <a:buChar char="•"/>
            </a:pPr>
            <a:r>
              <a:rPr lang="en-US" sz="3177">
                <a:solidFill>
                  <a:srgbClr val="2B2B2B"/>
                </a:solidFill>
                <a:latin typeface="Times New Roman"/>
                <a:ea typeface="Times New Roman"/>
                <a:cs typeface="Times New Roman"/>
                <a:sym typeface="Times New Roman"/>
              </a:rPr>
              <a:t>Integrate AI-based healthcare support to analyze medical history and assist doctors in decision-making.</a:t>
            </a:r>
          </a:p>
        </p:txBody>
      </p:sp>
      <p:sp>
        <p:nvSpPr>
          <p:cNvPr id="4" name="Freeform 4"/>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5" name="Freeform 5"/>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5942233" y="561975"/>
            <a:ext cx="6403534" cy="1381125"/>
          </a:xfrm>
          <a:prstGeom prst="rect">
            <a:avLst/>
          </a:prstGeom>
        </p:spPr>
        <p:txBody>
          <a:bodyPr lIns="0" tIns="0" rIns="0" bIns="0" rtlCol="0" anchor="t">
            <a:spAutoFit/>
          </a:bodyPr>
          <a:lstStyle/>
          <a:p>
            <a:pPr algn="ctr">
              <a:lnSpc>
                <a:spcPts val="11700"/>
              </a:lnSpc>
            </a:pPr>
            <a:r>
              <a:rPr lang="en-US" sz="6000" b="1">
                <a:solidFill>
                  <a:srgbClr val="2B2B2B"/>
                </a:solidFill>
                <a:latin typeface="Times New Roman Bold"/>
                <a:ea typeface="Times New Roman Bold"/>
                <a:cs typeface="Times New Roman Bold"/>
                <a:sym typeface="Times New Roman Bold"/>
              </a:rPr>
              <a:t>CONCLUSION</a:t>
            </a:r>
          </a:p>
        </p:txBody>
      </p:sp>
      <p:sp>
        <p:nvSpPr>
          <p:cNvPr id="3" name="TextBox 3"/>
          <p:cNvSpPr txBox="1"/>
          <p:nvPr/>
        </p:nvSpPr>
        <p:spPr>
          <a:xfrm>
            <a:off x="2772857" y="2494841"/>
            <a:ext cx="13238845" cy="6275147"/>
          </a:xfrm>
          <a:prstGeom prst="rect">
            <a:avLst/>
          </a:prstGeom>
        </p:spPr>
        <p:txBody>
          <a:bodyPr lIns="0" tIns="0" rIns="0" bIns="0" rtlCol="0" anchor="t">
            <a:spAutoFit/>
          </a:bodyPr>
          <a:lstStyle/>
          <a:p>
            <a:pPr marL="695024" lvl="1" indent="-347512" algn="just">
              <a:lnSpc>
                <a:spcPts val="6277"/>
              </a:lnSpc>
              <a:buFont typeface="Arial"/>
              <a:buChar char="•"/>
            </a:pPr>
            <a:r>
              <a:rPr lang="en-US" sz="3219">
                <a:solidFill>
                  <a:srgbClr val="2B2B2B"/>
                </a:solidFill>
                <a:latin typeface="Times New Roman"/>
                <a:ea typeface="Times New Roman"/>
                <a:cs typeface="Times New Roman"/>
                <a:sym typeface="Times New Roman"/>
              </a:rPr>
              <a:t>The system provides an efficient and organized method for managing hospital patient records.</a:t>
            </a:r>
          </a:p>
          <a:p>
            <a:pPr marL="695024" lvl="1" indent="-347512" algn="just">
              <a:lnSpc>
                <a:spcPts val="6277"/>
              </a:lnSpc>
              <a:buFont typeface="Arial"/>
              <a:buChar char="•"/>
            </a:pPr>
            <a:r>
              <a:rPr lang="en-US" sz="3219">
                <a:solidFill>
                  <a:srgbClr val="2B2B2B"/>
                </a:solidFill>
                <a:latin typeface="Times New Roman"/>
                <a:ea typeface="Times New Roman"/>
                <a:cs typeface="Times New Roman"/>
                <a:sym typeface="Times New Roman"/>
              </a:rPr>
              <a:t>It securely manages patient details, medical history, doctor information, appointments, and billing records.</a:t>
            </a:r>
          </a:p>
          <a:p>
            <a:pPr marL="695024" lvl="1" indent="-347512" algn="just">
              <a:lnSpc>
                <a:spcPts val="6277"/>
              </a:lnSpc>
              <a:buFont typeface="Arial"/>
              <a:buChar char="•"/>
            </a:pPr>
            <a:r>
              <a:rPr lang="en-US" sz="3219">
                <a:solidFill>
                  <a:srgbClr val="2B2B2B"/>
                </a:solidFill>
                <a:latin typeface="Times New Roman"/>
                <a:ea typeface="Times New Roman"/>
                <a:cs typeface="Times New Roman"/>
                <a:sym typeface="Times New Roman"/>
              </a:rPr>
              <a:t>Relational database concepts such as primary keys and foreign keys maintain data accuracy and consistency.</a:t>
            </a:r>
          </a:p>
          <a:p>
            <a:pPr marL="695024" lvl="1" indent="-347512" algn="just">
              <a:lnSpc>
                <a:spcPts val="6277"/>
              </a:lnSpc>
              <a:buFont typeface="Arial"/>
              <a:buChar char="•"/>
            </a:pPr>
            <a:r>
              <a:rPr lang="en-US" sz="3219">
                <a:solidFill>
                  <a:srgbClr val="2B2B2B"/>
                </a:solidFill>
                <a:latin typeface="Times New Roman"/>
                <a:ea typeface="Times New Roman"/>
                <a:cs typeface="Times New Roman"/>
                <a:sym typeface="Times New Roman"/>
              </a:rPr>
              <a:t>The system reduces manual work, improves data retrieval, and supports better hospital record management.</a:t>
            </a:r>
          </a:p>
        </p:txBody>
      </p:sp>
      <p:sp>
        <p:nvSpPr>
          <p:cNvPr id="4" name="Freeform 4"/>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5" name="Freeform 5"/>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6582270" y="561975"/>
            <a:ext cx="5914529" cy="1500411"/>
          </a:xfrm>
          <a:prstGeom prst="rect">
            <a:avLst/>
          </a:prstGeom>
        </p:spPr>
        <p:txBody>
          <a:bodyPr wrap="square" lIns="0" tIns="0" rIns="0" bIns="0" rtlCol="0" anchor="t">
            <a:spAutoFit/>
          </a:bodyPr>
          <a:lstStyle/>
          <a:p>
            <a:pPr algn="ctr">
              <a:lnSpc>
                <a:spcPts val="11700"/>
              </a:lnSpc>
              <a:spcBef>
                <a:spcPct val="0"/>
              </a:spcBef>
            </a:pPr>
            <a:r>
              <a:rPr lang="en-US" sz="6000" b="1" dirty="0">
                <a:solidFill>
                  <a:srgbClr val="000000"/>
                </a:solidFill>
                <a:latin typeface="Times New Roman Bold"/>
                <a:ea typeface="Times New Roman Bold"/>
                <a:cs typeface="Times New Roman Bold"/>
                <a:sym typeface="Times New Roman Bold"/>
              </a:rPr>
              <a:t>REFERENCES</a:t>
            </a:r>
          </a:p>
        </p:txBody>
      </p:sp>
      <p:sp>
        <p:nvSpPr>
          <p:cNvPr id="3" name="TextBox 3"/>
          <p:cNvSpPr txBox="1"/>
          <p:nvPr/>
        </p:nvSpPr>
        <p:spPr>
          <a:xfrm>
            <a:off x="2657903" y="2325044"/>
            <a:ext cx="13721992" cy="6728587"/>
          </a:xfrm>
          <a:prstGeom prst="rect">
            <a:avLst/>
          </a:prstGeom>
        </p:spPr>
        <p:txBody>
          <a:bodyPr lIns="0" tIns="0" rIns="0" bIns="0" rtlCol="0" anchor="t">
            <a:spAutoFit/>
          </a:bodyPr>
          <a:lstStyle/>
          <a:p>
            <a:pPr marL="690879" lvl="1" indent="-345439" algn="just">
              <a:lnSpc>
                <a:spcPts val="5983"/>
              </a:lnSpc>
              <a:buAutoNum type="arabicPeriod"/>
            </a:pPr>
            <a:r>
              <a:rPr lang="en-US" sz="3199" dirty="0" err="1">
                <a:solidFill>
                  <a:srgbClr val="000000"/>
                </a:solidFill>
                <a:latin typeface="Times New Roman"/>
                <a:ea typeface="Times New Roman"/>
                <a:cs typeface="Times New Roman"/>
                <a:sym typeface="Times New Roman"/>
              </a:rPr>
              <a:t>Elmasri</a:t>
            </a:r>
            <a:r>
              <a:rPr lang="en-US" sz="3199" dirty="0">
                <a:solidFill>
                  <a:srgbClr val="000000"/>
                </a:solidFill>
                <a:latin typeface="Times New Roman"/>
                <a:ea typeface="Times New Roman"/>
                <a:cs typeface="Times New Roman"/>
                <a:sym typeface="Times New Roman"/>
              </a:rPr>
              <a:t>, R., &amp; </a:t>
            </a:r>
            <a:r>
              <a:rPr lang="en-US" sz="3199" dirty="0" err="1">
                <a:solidFill>
                  <a:srgbClr val="000000"/>
                </a:solidFill>
                <a:latin typeface="Times New Roman"/>
                <a:ea typeface="Times New Roman"/>
                <a:cs typeface="Times New Roman"/>
                <a:sym typeface="Times New Roman"/>
              </a:rPr>
              <a:t>Navathe</a:t>
            </a:r>
            <a:r>
              <a:rPr lang="en-US" sz="3199" dirty="0">
                <a:solidFill>
                  <a:srgbClr val="000000"/>
                </a:solidFill>
                <a:latin typeface="Times New Roman"/>
                <a:ea typeface="Times New Roman"/>
                <a:cs typeface="Times New Roman"/>
                <a:sym typeface="Times New Roman"/>
              </a:rPr>
              <a:t>, S. B. (2024). Fundamentals of Database Systems. Pearson.</a:t>
            </a:r>
          </a:p>
          <a:p>
            <a:pPr marL="690879" lvl="1" indent="-345439" algn="just">
              <a:lnSpc>
                <a:spcPts val="5983"/>
              </a:lnSpc>
              <a:buAutoNum type="arabicPeriod"/>
            </a:pPr>
            <a:r>
              <a:rPr lang="en-US" sz="3199" dirty="0" err="1">
                <a:solidFill>
                  <a:srgbClr val="000000"/>
                </a:solidFill>
                <a:latin typeface="Times New Roman"/>
                <a:ea typeface="Times New Roman"/>
                <a:cs typeface="Times New Roman"/>
                <a:sym typeface="Times New Roman"/>
              </a:rPr>
              <a:t>Silberschatz</a:t>
            </a:r>
            <a:r>
              <a:rPr lang="en-US" sz="3199" dirty="0">
                <a:solidFill>
                  <a:srgbClr val="000000"/>
                </a:solidFill>
                <a:latin typeface="Times New Roman"/>
                <a:ea typeface="Times New Roman"/>
                <a:cs typeface="Times New Roman"/>
                <a:sym typeface="Times New Roman"/>
              </a:rPr>
              <a:t>, A., </a:t>
            </a:r>
            <a:r>
              <a:rPr lang="en-US" sz="3199" dirty="0" err="1">
                <a:solidFill>
                  <a:srgbClr val="000000"/>
                </a:solidFill>
                <a:latin typeface="Times New Roman"/>
                <a:ea typeface="Times New Roman"/>
                <a:cs typeface="Times New Roman"/>
                <a:sym typeface="Times New Roman"/>
              </a:rPr>
              <a:t>Korth</a:t>
            </a:r>
            <a:r>
              <a:rPr lang="en-US" sz="3199" dirty="0">
                <a:solidFill>
                  <a:srgbClr val="000000"/>
                </a:solidFill>
                <a:latin typeface="Times New Roman"/>
                <a:ea typeface="Times New Roman"/>
                <a:cs typeface="Times New Roman"/>
                <a:sym typeface="Times New Roman"/>
              </a:rPr>
              <a:t>, H. F., &amp; </a:t>
            </a:r>
            <a:r>
              <a:rPr lang="en-US" sz="3199" dirty="0" err="1">
                <a:solidFill>
                  <a:srgbClr val="000000"/>
                </a:solidFill>
                <a:latin typeface="Times New Roman"/>
                <a:ea typeface="Times New Roman"/>
                <a:cs typeface="Times New Roman"/>
                <a:sym typeface="Times New Roman"/>
              </a:rPr>
              <a:t>Sudarshan</a:t>
            </a:r>
            <a:r>
              <a:rPr lang="en-US" sz="3199" dirty="0">
                <a:solidFill>
                  <a:srgbClr val="000000"/>
                </a:solidFill>
                <a:latin typeface="Times New Roman"/>
                <a:ea typeface="Times New Roman"/>
                <a:cs typeface="Times New Roman"/>
                <a:sym typeface="Times New Roman"/>
              </a:rPr>
              <a:t>, S. (2025). Database System Concepts. McGraw-Hill.</a:t>
            </a:r>
          </a:p>
          <a:p>
            <a:pPr marL="690879" lvl="1" indent="-345439" algn="just">
              <a:lnSpc>
                <a:spcPts val="5983"/>
              </a:lnSpc>
              <a:buAutoNum type="arabicPeriod"/>
            </a:pPr>
            <a:r>
              <a:rPr lang="en-US" sz="3199" dirty="0">
                <a:solidFill>
                  <a:srgbClr val="000000"/>
                </a:solidFill>
                <a:latin typeface="Times New Roman"/>
                <a:ea typeface="Times New Roman"/>
                <a:cs typeface="Times New Roman"/>
                <a:sym typeface="Times New Roman"/>
              </a:rPr>
              <a:t>Date, C. J. (2024). An Introduction to Database Systems. Pearson.</a:t>
            </a:r>
          </a:p>
          <a:p>
            <a:pPr marL="690879" lvl="1" indent="-345439" algn="just">
              <a:lnSpc>
                <a:spcPts val="5983"/>
              </a:lnSpc>
              <a:buAutoNum type="arabicPeriod"/>
            </a:pPr>
            <a:r>
              <a:rPr lang="en-US" sz="3199" dirty="0">
                <a:solidFill>
                  <a:srgbClr val="000000"/>
                </a:solidFill>
                <a:latin typeface="Times New Roman"/>
                <a:ea typeface="Times New Roman"/>
                <a:cs typeface="Times New Roman"/>
                <a:sym typeface="Times New Roman"/>
              </a:rPr>
              <a:t>Connolly, T., &amp; </a:t>
            </a:r>
            <a:r>
              <a:rPr lang="en-US" sz="3199" dirty="0" err="1">
                <a:solidFill>
                  <a:srgbClr val="000000"/>
                </a:solidFill>
                <a:latin typeface="Times New Roman"/>
                <a:ea typeface="Times New Roman"/>
                <a:cs typeface="Times New Roman"/>
                <a:sym typeface="Times New Roman"/>
              </a:rPr>
              <a:t>Begg</a:t>
            </a:r>
            <a:r>
              <a:rPr lang="en-US" sz="3199" dirty="0">
                <a:solidFill>
                  <a:srgbClr val="000000"/>
                </a:solidFill>
                <a:latin typeface="Times New Roman"/>
                <a:ea typeface="Times New Roman"/>
                <a:cs typeface="Times New Roman"/>
                <a:sym typeface="Times New Roman"/>
              </a:rPr>
              <a:t>, C. (2025). Database Systems: A Practical Approach to Design, Implementation, and Management. Pearson.</a:t>
            </a:r>
          </a:p>
          <a:p>
            <a:pPr marL="690879" lvl="1" indent="-345439" algn="just">
              <a:lnSpc>
                <a:spcPts val="5983"/>
              </a:lnSpc>
              <a:buAutoNum type="arabicPeriod"/>
            </a:pPr>
            <a:r>
              <a:rPr lang="en-US" sz="3199" dirty="0" err="1">
                <a:solidFill>
                  <a:srgbClr val="000000"/>
                </a:solidFill>
                <a:latin typeface="Times New Roman"/>
                <a:ea typeface="Times New Roman"/>
                <a:cs typeface="Times New Roman"/>
                <a:sym typeface="Times New Roman"/>
              </a:rPr>
              <a:t>Ramakrishnan</a:t>
            </a:r>
            <a:r>
              <a:rPr lang="en-US" sz="3199" dirty="0">
                <a:solidFill>
                  <a:srgbClr val="000000"/>
                </a:solidFill>
                <a:latin typeface="Times New Roman"/>
                <a:ea typeface="Times New Roman"/>
                <a:cs typeface="Times New Roman"/>
                <a:sym typeface="Times New Roman"/>
              </a:rPr>
              <a:t>, R., &amp; </a:t>
            </a:r>
            <a:r>
              <a:rPr lang="en-US" sz="3199" dirty="0" err="1">
                <a:solidFill>
                  <a:srgbClr val="000000"/>
                </a:solidFill>
                <a:latin typeface="Times New Roman"/>
                <a:ea typeface="Times New Roman"/>
                <a:cs typeface="Times New Roman"/>
                <a:sym typeface="Times New Roman"/>
              </a:rPr>
              <a:t>Gehrke</a:t>
            </a:r>
            <a:r>
              <a:rPr lang="en-US" sz="3199" dirty="0">
                <a:solidFill>
                  <a:srgbClr val="000000"/>
                </a:solidFill>
                <a:latin typeface="Times New Roman"/>
                <a:ea typeface="Times New Roman"/>
                <a:cs typeface="Times New Roman"/>
                <a:sym typeface="Times New Roman"/>
              </a:rPr>
              <a:t>, J. (2026). Database Management Systems. McGraw-Hill.</a:t>
            </a:r>
          </a:p>
        </p:txBody>
      </p:sp>
      <p:sp>
        <p:nvSpPr>
          <p:cNvPr id="4" name="Freeform 4"/>
          <p:cNvSpPr/>
          <p:nvPr/>
        </p:nvSpPr>
        <p:spPr>
          <a:xfrm rot="-5400000">
            <a:off x="927735" y="661013"/>
            <a:ext cx="1462727" cy="1260798"/>
          </a:xfrm>
          <a:custGeom>
            <a:avLst/>
            <a:gdLst/>
            <a:ahLst/>
            <a:cxnLst/>
            <a:rect l="l" t="t" r="r" b="b"/>
            <a:pathLst>
              <a:path w="1462727" h="1260798">
                <a:moveTo>
                  <a:pt x="0" y="0"/>
                </a:moveTo>
                <a:lnTo>
                  <a:pt x="1462728" y="0"/>
                </a:lnTo>
                <a:lnTo>
                  <a:pt x="1462728" y="1260798"/>
                </a:lnTo>
                <a:lnTo>
                  <a:pt x="0" y="1260798"/>
                </a:lnTo>
                <a:lnTo>
                  <a:pt x="0" y="0"/>
                </a:lnTo>
                <a:close/>
              </a:path>
            </a:pathLst>
          </a:custGeom>
          <a:blipFill>
            <a:blip r:embed="rId2"/>
            <a:stretch>
              <a:fillRect b="-804020"/>
            </a:stretch>
          </a:blipFill>
        </p:spPr>
      </p:sp>
      <p:sp>
        <p:nvSpPr>
          <p:cNvPr id="5" name="Freeform 5"/>
          <p:cNvSpPr/>
          <p:nvPr/>
        </p:nvSpPr>
        <p:spPr>
          <a:xfrm rot="-5400000">
            <a:off x="16048231" y="243178"/>
            <a:ext cx="1516358" cy="2042837"/>
          </a:xfrm>
          <a:custGeom>
            <a:avLst/>
            <a:gdLst/>
            <a:ahLst/>
            <a:cxnLst/>
            <a:rect l="l" t="t" r="r" b="b"/>
            <a:pathLst>
              <a:path w="1516358" h="2042837">
                <a:moveTo>
                  <a:pt x="0" y="0"/>
                </a:moveTo>
                <a:lnTo>
                  <a:pt x="1516358" y="0"/>
                </a:lnTo>
                <a:lnTo>
                  <a:pt x="1516358" y="2042837"/>
                </a:lnTo>
                <a:lnTo>
                  <a:pt x="0" y="2042837"/>
                </a:lnTo>
                <a:lnTo>
                  <a:pt x="0" y="0"/>
                </a:lnTo>
                <a:close/>
              </a:path>
            </a:pathLst>
          </a:custGeom>
          <a:blipFill>
            <a:blip r:embed="rId2"/>
            <a:stretch>
              <a:fillRect t="-289216" b="-189183"/>
            </a:stretch>
          </a:blipFill>
        </p:spPr>
      </p:sp>
    </p:spTree>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CF7"/>
        </a:solidFill>
        <a:effectLst/>
      </p:bgPr>
    </p:bg>
    <p:spTree>
      <p:nvGrpSpPr>
        <p:cNvPr id="1" name=""/>
        <p:cNvGrpSpPr/>
        <p:nvPr/>
      </p:nvGrpSpPr>
      <p:grpSpPr>
        <a:xfrm>
          <a:off x="0" y="0"/>
          <a:ext cx="0" cy="0"/>
          <a:chOff x="0" y="0"/>
          <a:chExt cx="0" cy="0"/>
        </a:xfrm>
      </p:grpSpPr>
      <p:sp>
        <p:nvSpPr>
          <p:cNvPr id="2" name="TextBox 2"/>
          <p:cNvSpPr txBox="1"/>
          <p:nvPr/>
        </p:nvSpPr>
        <p:spPr>
          <a:xfrm>
            <a:off x="5399931" y="3074135"/>
            <a:ext cx="7488138" cy="2261526"/>
          </a:xfrm>
          <a:prstGeom prst="rect">
            <a:avLst/>
          </a:prstGeom>
        </p:spPr>
        <p:txBody>
          <a:bodyPr lIns="0" tIns="0" rIns="0" bIns="0" rtlCol="0" anchor="t">
            <a:spAutoFit/>
          </a:bodyPr>
          <a:lstStyle/>
          <a:p>
            <a:pPr algn="ctr">
              <a:lnSpc>
                <a:spcPts val="19221"/>
              </a:lnSpc>
              <a:spcBef>
                <a:spcPct val="0"/>
              </a:spcBef>
            </a:pPr>
            <a:r>
              <a:rPr lang="en-US" sz="9856" b="1" i="1">
                <a:solidFill>
                  <a:srgbClr val="000000"/>
                </a:solidFill>
                <a:latin typeface="Times New Roman Bold Italics"/>
                <a:ea typeface="Times New Roman Bold Italics"/>
                <a:cs typeface="Times New Roman Bold Italics"/>
                <a:sym typeface="Times New Roman Bold Italics"/>
              </a:rPr>
              <a:t>THANK YOU </a:t>
            </a: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108</TotalTime>
  <Words>1063</Words>
  <Application>Microsoft Office PowerPoint</Application>
  <PresentationFormat>Custom</PresentationFormat>
  <Paragraphs>101</Paragraphs>
  <Slides>18</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18</vt:i4>
      </vt:variant>
    </vt:vector>
  </HeadingPairs>
  <TitlesOfParts>
    <vt:vector size="26" baseType="lpstr">
      <vt:lpstr>Calibri</vt:lpstr>
      <vt:lpstr>Times New Roman Bold</vt:lpstr>
      <vt:lpstr>Times New Roman Bold Italics</vt:lpstr>
      <vt:lpstr>Times New Roman MT</vt:lpstr>
      <vt:lpstr>Arial</vt:lpstr>
      <vt:lpstr>Times New Roman</vt:lpstr>
      <vt:lpstr>Times New Roman MT Bold</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team 5.pptx</dc:title>
  <dc:creator>Admin</dc:creator>
  <cp:lastModifiedBy>Admin</cp:lastModifiedBy>
  <cp:revision>7</cp:revision>
  <dcterms:created xsi:type="dcterms:W3CDTF">2006-08-16T00:00:00Z</dcterms:created>
  <dcterms:modified xsi:type="dcterms:W3CDTF">2026-09-04T14:53:51Z</dcterms:modified>
  <dc:identifier>DAHLmKVkdgk</dc:identifier>
</cp:coreProperties>
</file>